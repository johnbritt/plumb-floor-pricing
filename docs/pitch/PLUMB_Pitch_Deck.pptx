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11111"/>
                </a:solidFill>
                <a:latin typeface="Arial"/>
              </a:defRPr>
            </a:pPr>
            <a:r>
              <a:rPr sz="1100" b="0" i="0" u="none" strike="noStrike">
                <a:solidFill>
                  <a:srgbClr val="111111"/>
                </a:solidFill>
                <a:latin typeface="Arial"/>
              </a:rPr>
              <a:t>Revenue captured (% of best floor), held-out world</a:t>
            </a:r>
          </a:p>
        </c:rich>
      </c:tx>
      <c:layout/>
      <c:overlay val="0"/>
    </c:title>
    <c:autoTitleDeleted val="0"/>
    <c:plotArea>
      <c:layout/>
      <c:barChart>
        <c:barDir val="col"/>
        <c:grouping val="clustered"/>
        <c:varyColors val="0"/>
        <c:ser>
          <c:idx val="0"/>
          <c:order val="0"/>
          <c:tx>
            <c:strRef>
              <c:f>Sheet1!$B$1</c:f>
              <c:strCache>
                <c:ptCount val="1"/>
                <c:pt idx="0">
                  <c:v>Revenue captured %</c:v>
                </c:pt>
              </c:strCache>
            </c:strRef>
          </c:tx>
          <c:spPr>
            <a:solidFill>
              <a:srgbClr val="F26B1D"/>
            </a:solidFill>
            <a:effectLst/>
          </c:spPr>
          <c:invertIfNegative val="0"/>
          <c:dLbls>
            <c:numFmt formatCode="0.0" sourceLinked="0"/>
            <c:txPr>
              <a:bodyPr/>
              <a:lstStyle/>
              <a:p>
                <a:pPr>
                  <a:defRPr b="0" i="0" strike="noStrike" sz="1100" u="none">
                    <a:solidFill>
                      <a:srgbClr val="111111"/>
                    </a:solidFill>
                    <a:latin typeface="Arial"/>
                  </a:defRPr>
                </a:pPr>
              </a:p>
            </c:txPr>
            <c:showLegendKey val="0"/>
            <c:showVal val="1"/>
            <c:showCatName val="0"/>
            <c:showSerName val="0"/>
            <c:showPercent val="0"/>
            <c:showBubbleSize val="0"/>
            <c:showLeaderLines val="0"/>
          </c:dLbls>
          <c:cat>
            <c:multiLvlStrRef>
              <c:f>Sheet1!$A$2:$A$6</c:f>
              <c:multiLvlStrCache>
                <c:ptCount val="5"/>
                <c:lvl>
                  <c:pt idx="0">
                    <c:v>Ops alone</c:v>
                  </c:pt>
                  <c:pt idx="1">
                    <c:v>Stats, full step</c:v>
                  </c:pt>
                  <c:pt idx="2">
                    <c:v>Stats, scaled step</c:v>
                  </c:pt>
                  <c:pt idx="3">
                    <c:v>Stats + agent refusal</c:v>
                  </c:pt>
                  <c:pt idx="4">
                    <c:v>Ops + agent (pair)</c:v>
                  </c:pt>
                </c:lvl>
              </c:multiLvlStrCache>
            </c:multiLvlStrRef>
          </c:cat>
          <c:val>
            <c:numRef>
              <c:f>Sheet1!$B$2:$B$6</c:f>
              <c:numCache>
                <c:formatCode>General</c:formatCode>
                <c:ptCount val="5"/>
                <c:pt idx="0">
                  <c:v>78.7</c:v>
                </c:pt>
                <c:pt idx="1">
                  <c:v>98.3</c:v>
                </c:pt>
                <c:pt idx="2">
                  <c:v>96.1</c:v>
                </c:pt>
                <c:pt idx="3">
                  <c:v>95</c:v>
                </c:pt>
                <c:pt idx="4">
                  <c:v>95.3</c:v>
                </c:pt>
              </c:numCache>
            </c:numRef>
          </c:val>
        </c:ser>
        <c:dLbls>
          <c:numFmt formatCode="0.0" sourceLinked="0"/>
          <c:txPr>
            <a:bodyPr/>
            <a:lstStyle/>
            <a:p>
              <a:pPr>
                <a:defRPr b="0" i="0" strike="noStrike" sz="1100" u="none">
                  <a:solidFill>
                    <a:srgbClr val="11111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111111"/>
                </a:solidFill>
                <a:latin typeface="Arial"/>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6350" cap="flat">
              <a:solidFill>
                <a:srgbClr val="E5E5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One-liner: PLUMB is a floor-pricing partner for ad ops. A statistics layer proposes a move, an agent can refuse when the data cannot be trusted, and a human makes the call. All numbers in this deck are from a synthetic sample dataset because my real data is confidential.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Floors are nudged placement by placement on a belief about fill rate. Good moves are never made because evidence is unclear; bad moves are made because a one-day swing was read as a trend. The 78.7% and 16.3% come from the modelled manual arm in the sample world, so read it as direction, not as a measured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never returns a price. It returns a plan for how much to trust the data: hold, exclude the last day, change the window, adjust direction. The price always comes from the statistics layer, and the decision always belongs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floor desk: pick a cell, see the recommendation, the evidence and any refusal reason, then accept or edit. The web app is FastAPI plus SQLite and runs with Docker or Render. The walkthrough video is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real validation here before presenting if you have it: user conversations, a pilot, a commitment. This deck states only what can be checked in the repo. Do not add a claim you cannot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Tuned on one sample world, frozen, scored on a fresh one. Intervals are cluster bootstraps over cells. The manual arm is my model of manual pricing, so quote the direction, not the size of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was driven by a result, not a plan. The refusal gate and the harm metric were both wrong in v1 and the evaluation showed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team slide: the person who understands the auction mechanics also built the statistics, the agent and the app, so nothing was lost in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640080" y="1097280"/>
            <a:ext cx="7863840" cy="914400"/>
          </a:xfrm>
          <a:prstGeom prst="rect">
            <a:avLst/>
          </a:prstGeom>
          <a:noFill/>
          <a:ln/>
        </p:spPr>
        <p:txBody>
          <a:bodyPr wrap="square" lIns="0" tIns="0" rIns="0" bIns="0" rtlCol="0" anchor="ctr"/>
          <a:lstStyle/>
          <a:p>
            <a:pPr indent="0" marL="0">
              <a:buNone/>
            </a:pPr>
            <a:r>
              <a:rPr lang="en-US" sz="6000" b="1" dirty="0">
                <a:solidFill>
                  <a:srgbClr val="FFFFFF"/>
                </a:solidFill>
                <a:latin typeface="Georgia" pitchFamily="34" charset="0"/>
                <a:ea typeface="Georgia" pitchFamily="34" charset="-122"/>
                <a:cs typeface="Georgia" pitchFamily="34" charset="-120"/>
              </a:rPr>
              <a:t>PLUMB</a:t>
            </a:r>
            <a:endParaRPr lang="en-US" sz="6000" dirty="0"/>
          </a:p>
        </p:txBody>
      </p:sp>
      <p:sp>
        <p:nvSpPr>
          <p:cNvPr id="3" name="Shape 1"/>
          <p:cNvSpPr/>
          <p:nvPr/>
        </p:nvSpPr>
        <p:spPr>
          <a:xfrm>
            <a:off x="640080" y="2103120"/>
            <a:ext cx="1097280" cy="54864"/>
          </a:xfrm>
          <a:prstGeom prst="rect">
            <a:avLst/>
          </a:prstGeom>
          <a:solidFill>
            <a:srgbClr val="F26B1D"/>
          </a:solidFill>
          <a:ln w="12700">
            <a:solidFill>
              <a:srgbClr val="F26B1D"/>
            </a:solidFill>
            <a:prstDash val="solid"/>
          </a:ln>
        </p:spPr>
      </p:sp>
      <p:sp>
        <p:nvSpPr>
          <p:cNvPr id="4" name="Text 2"/>
          <p:cNvSpPr txBox="1"/>
          <p:nvPr/>
        </p:nvSpPr>
        <p:spPr>
          <a:xfrm>
            <a:off x="640080" y="2331720"/>
            <a:ext cx="6949440" cy="1005840"/>
          </a:xfrm>
          <a:prstGeom prst="rect">
            <a:avLst/>
          </a:prstGeom>
          <a:noFill/>
          <a:ln/>
        </p:spPr>
        <p:txBody>
          <a:bodyPr wrap="square" lIns="0" tIns="0" rIns="0" bIns="0" rtlCol="0" anchor="t"/>
          <a:lstStyle/>
          <a:p>
            <a:pPr indent="0" marL="0">
              <a:buNone/>
            </a:pPr>
            <a:r>
              <a:rPr lang="en-US" sz="2200" dirty="0">
                <a:solidFill>
                  <a:srgbClr val="FFFFFF"/>
                </a:solidFill>
                <a:latin typeface="Calibri" pitchFamily="34" charset="0"/>
                <a:ea typeface="Calibri" pitchFamily="34" charset="-122"/>
                <a:cs typeface="Calibri" pitchFamily="34" charset="-120"/>
              </a:rPr>
              <a:t>A floor-pricing partner for ad ops. Statistics propose, an agent can refuse, a human decides.</a:t>
            </a:r>
            <a:endParaRPr lang="en-US" sz="2200" dirty="0"/>
          </a:p>
        </p:txBody>
      </p:sp>
      <p:sp>
        <p:nvSpPr>
          <p:cNvPr id="5" name="Text 3"/>
          <p:cNvSpPr txBox="1"/>
          <p:nvPr/>
        </p:nvSpPr>
        <p:spPr>
          <a:xfrm>
            <a:off x="640080" y="4297680"/>
            <a:ext cx="7863840" cy="365760"/>
          </a:xfrm>
          <a:prstGeom prst="rect">
            <a:avLst/>
          </a:prstGeom>
          <a:noFill/>
          <a:ln/>
        </p:spPr>
        <p:txBody>
          <a:bodyPr wrap="square" lIns="0" tIns="0" rIns="0" bIns="0" rtlCol="0" anchor="ctr"/>
          <a:lstStyle/>
          <a:p>
            <a:pPr indent="0" marL="0">
              <a:buNone/>
            </a:pPr>
            <a:r>
              <a:rPr lang="en-US" sz="1200" dirty="0">
                <a:solidFill>
                  <a:srgbClr val="BDBDBD"/>
                </a:solidFill>
                <a:latin typeface="Calibri" pitchFamily="34" charset="0"/>
                <a:ea typeface="Calibri" pitchFamily="34" charset="-122"/>
                <a:cs typeface="Calibri" pitchFamily="34" charset="-120"/>
              </a:rPr>
              <a:t>J John Britto  |  Head of Product &amp; Technology  |  100xEngineers Cohort 7 capstone  |  Solo</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PROBLEM</a:t>
            </a:r>
            <a:endParaRPr lang="en-US" sz="1100" dirty="0"/>
          </a:p>
        </p:txBody>
      </p:sp>
      <p:sp>
        <p:nvSpPr>
          <p:cNvPr id="3" name="Text 1"/>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Price floors are set by hand, on a belief, with no way to see the curve</a:t>
            </a:r>
            <a:endParaRPr lang="en-US" sz="2600" dirty="0"/>
          </a:p>
        </p:txBody>
      </p:sp>
      <p:sp>
        <p:nvSpPr>
          <p:cNvPr id="4" name="Shape 2"/>
          <p:cNvSpPr/>
          <p:nvPr/>
        </p:nvSpPr>
        <p:spPr>
          <a:xfrm>
            <a:off x="548640" y="1737360"/>
            <a:ext cx="2606040" cy="1737360"/>
          </a:xfrm>
          <a:prstGeom prst="rect">
            <a:avLst/>
          </a:prstGeom>
          <a:solidFill>
            <a:srgbClr val="F6F3EF"/>
          </a:solidFill>
          <a:ln w="12700">
            <a:solidFill>
              <a:srgbClr val="F6F3EF"/>
            </a:solidFill>
            <a:prstDash val="solid"/>
          </a:ln>
        </p:spPr>
      </p:sp>
      <p:sp>
        <p:nvSpPr>
          <p:cNvPr id="5" name="Text 3"/>
          <p:cNvSpPr txBox="1"/>
          <p:nvPr/>
        </p:nvSpPr>
        <p:spPr>
          <a:xfrm>
            <a:off x="73152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Too low</a:t>
            </a:r>
            <a:endParaRPr lang="en-US" sz="2000" dirty="0"/>
          </a:p>
        </p:txBody>
      </p:sp>
      <p:sp>
        <p:nvSpPr>
          <p:cNvPr id="6" name="Text 4"/>
          <p:cNvSpPr txBox="1"/>
          <p:nvPr/>
        </p:nvSpPr>
        <p:spPr>
          <a:xfrm>
            <a:off x="73152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Money left on the table in every auction</a:t>
            </a:r>
            <a:endParaRPr lang="en-US" sz="1500" dirty="0"/>
          </a:p>
        </p:txBody>
      </p:sp>
      <p:sp>
        <p:nvSpPr>
          <p:cNvPr id="7" name="Shape 5"/>
          <p:cNvSpPr/>
          <p:nvPr/>
        </p:nvSpPr>
        <p:spPr>
          <a:xfrm>
            <a:off x="3337560" y="1737360"/>
            <a:ext cx="2606040" cy="1737360"/>
          </a:xfrm>
          <a:prstGeom prst="rect">
            <a:avLst/>
          </a:prstGeom>
          <a:solidFill>
            <a:srgbClr val="F6F3EF"/>
          </a:solidFill>
          <a:ln w="12700">
            <a:solidFill>
              <a:srgbClr val="F6F3EF"/>
            </a:solidFill>
            <a:prstDash val="solid"/>
          </a:ln>
        </p:spPr>
      </p:sp>
      <p:sp>
        <p:nvSpPr>
          <p:cNvPr id="8" name="Text 6"/>
          <p:cNvSpPr txBox="1"/>
          <p:nvPr/>
        </p:nvSpPr>
        <p:spPr>
          <a:xfrm>
            <a:off x="352044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Too high</a:t>
            </a:r>
            <a:endParaRPr lang="en-US" sz="2000" dirty="0"/>
          </a:p>
        </p:txBody>
      </p:sp>
      <p:sp>
        <p:nvSpPr>
          <p:cNvPr id="9" name="Text 7"/>
          <p:cNvSpPr txBox="1"/>
          <p:nvPr/>
        </p:nvSpPr>
        <p:spPr>
          <a:xfrm>
            <a:off x="352044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Auctions go unfilled and revenue drops</a:t>
            </a:r>
            <a:endParaRPr lang="en-US" sz="1500" dirty="0"/>
          </a:p>
        </p:txBody>
      </p:sp>
      <p:sp>
        <p:nvSpPr>
          <p:cNvPr id="10" name="Shape 8"/>
          <p:cNvSpPr/>
          <p:nvPr/>
        </p:nvSpPr>
        <p:spPr>
          <a:xfrm>
            <a:off x="6126480" y="1737360"/>
            <a:ext cx="2606040" cy="1737360"/>
          </a:xfrm>
          <a:prstGeom prst="rect">
            <a:avLst/>
          </a:prstGeom>
          <a:solidFill>
            <a:srgbClr val="F6F3EF"/>
          </a:solidFill>
          <a:ln w="12700">
            <a:solidFill>
              <a:srgbClr val="F6F3EF"/>
            </a:solidFill>
            <a:prstDash val="solid"/>
          </a:ln>
        </p:spPr>
      </p:sp>
      <p:sp>
        <p:nvSpPr>
          <p:cNvPr id="11" name="Text 9"/>
          <p:cNvSpPr txBox="1"/>
          <p:nvPr/>
        </p:nvSpPr>
        <p:spPr>
          <a:xfrm>
            <a:off x="6309360" y="1874520"/>
            <a:ext cx="2240280" cy="411480"/>
          </a:xfrm>
          <a:prstGeom prst="rect">
            <a:avLst/>
          </a:prstGeom>
          <a:noFill/>
          <a:ln/>
        </p:spPr>
        <p:txBody>
          <a:bodyPr wrap="square" lIns="0" tIns="0" rIns="0" bIns="0" rtlCol="0" anchor="ctr"/>
          <a:lstStyle/>
          <a:p>
            <a:pPr indent="0" marL="0">
              <a:buNone/>
            </a:pPr>
            <a:r>
              <a:rPr lang="en-US" sz="2000" b="1" dirty="0">
                <a:solidFill>
                  <a:srgbClr val="F26B1D"/>
                </a:solidFill>
                <a:latin typeface="Georgia" pitchFamily="34" charset="0"/>
                <a:ea typeface="Georgia" pitchFamily="34" charset="-122"/>
                <a:cs typeface="Georgia" pitchFamily="34" charset="-120"/>
              </a:rPr>
              <a:t>No signal</a:t>
            </a:r>
            <a:endParaRPr lang="en-US" sz="2000" dirty="0"/>
          </a:p>
        </p:txBody>
      </p:sp>
      <p:sp>
        <p:nvSpPr>
          <p:cNvPr id="12" name="Text 10"/>
          <p:cNvSpPr txBox="1"/>
          <p:nvPr/>
        </p:nvSpPr>
        <p:spPr>
          <a:xfrm>
            <a:off x="6309360" y="2331720"/>
            <a:ext cx="2240280" cy="1005840"/>
          </a:xfrm>
          <a:prstGeom prst="rect">
            <a:avLst/>
          </a:prstGeom>
          <a:noFill/>
          <a:ln/>
        </p:spPr>
        <p:txBody>
          <a:bodyPr wrap="square" lIns="0" tIns="0" rIns="0" bIns="0" rtlCol="0" anchor="t"/>
          <a:lstStyle/>
          <a:p>
            <a:pPr indent="0" marL="0">
              <a:buNone/>
            </a:pPr>
            <a:r>
              <a:rPr lang="en-US" sz="1500" dirty="0">
                <a:solidFill>
                  <a:srgbClr val="111111"/>
                </a:solidFill>
                <a:latin typeface="Calibri" pitchFamily="34" charset="0"/>
                <a:ea typeface="Calibri" pitchFamily="34" charset="-122"/>
                <a:cs typeface="Calibri" pitchFamily="34" charset="-120"/>
              </a:rPr>
              <a:t>A bidder outage, demand surge or reporting glitch looks like a trend</a:t>
            </a:r>
            <a:endParaRPr lang="en-US" sz="1500" dirty="0"/>
          </a:p>
        </p:txBody>
      </p:sp>
      <p:sp>
        <p:nvSpPr>
          <p:cNvPr id="13" name="Text 11"/>
          <p:cNvSpPr txBox="1"/>
          <p:nvPr/>
        </p:nvSpPr>
        <p:spPr>
          <a:xfrm>
            <a:off x="548640" y="3840480"/>
            <a:ext cx="8046720" cy="731520"/>
          </a:xfrm>
          <a:prstGeom prst="rect">
            <a:avLst/>
          </a:prstGeom>
          <a:noFill/>
          <a:ln/>
        </p:spPr>
        <p:txBody>
          <a:bodyPr wrap="square" lIns="0" tIns="0" rIns="0" bIns="0" rtlCol="0" anchor="t"/>
          <a:lstStyle/>
          <a:p>
            <a:pPr indent="0" marL="0">
              <a:buNone/>
            </a:pPr>
            <a:r>
              <a:rPr lang="en-US" sz="1600" dirty="0">
                <a:solidFill>
                  <a:srgbClr val="111111"/>
                </a:solidFill>
                <a:latin typeface="Calibri" pitchFamily="34" charset="0"/>
                <a:ea typeface="Calibri" pitchFamily="34" charset="-122"/>
                <a:cs typeface="Calibri" pitchFamily="34" charset="-120"/>
              </a:rPr>
              <a:t>In sample data, modelled manual pricing captures 78.7% of the available revenue and makes a harmful move on 16.3% of decisions.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SOLUTION</a:t>
            </a:r>
            <a:endParaRPr lang="en-US" sz="1100" dirty="0"/>
          </a:p>
        </p:txBody>
      </p:sp>
      <p:sp>
        <p:nvSpPr>
          <p:cNvPr id="3" name="Text 1"/>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Three parts, each doing only what it is good at</a:t>
            </a:r>
            <a:endParaRPr lang="en-US" sz="2600" dirty="0"/>
          </a:p>
        </p:txBody>
      </p:sp>
      <p:sp>
        <p:nvSpPr>
          <p:cNvPr id="4" name="Shape 2"/>
          <p:cNvSpPr/>
          <p:nvPr/>
        </p:nvSpPr>
        <p:spPr>
          <a:xfrm>
            <a:off x="548640" y="1783080"/>
            <a:ext cx="548640" cy="548640"/>
          </a:xfrm>
          <a:prstGeom prst="ellipse">
            <a:avLst/>
          </a:prstGeom>
          <a:solidFill>
            <a:srgbClr val="F26B1D"/>
          </a:solidFill>
          <a:ln w="12700">
            <a:solidFill>
              <a:srgbClr val="F26B1D"/>
            </a:solidFill>
            <a:prstDash val="solid"/>
          </a:ln>
        </p:spPr>
      </p:sp>
      <p:sp>
        <p:nvSpPr>
          <p:cNvPr id="5" name="Text 3"/>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1</a:t>
            </a:r>
            <a:endParaRPr lang="en-US" sz="2000" dirty="0"/>
          </a:p>
        </p:txBody>
      </p:sp>
      <p:sp>
        <p:nvSpPr>
          <p:cNvPr id="6" name="Text 4"/>
          <p:cNvSpPr txBox="1"/>
          <p:nvPr/>
        </p:nvSpPr>
        <p:spPr>
          <a:xfrm>
            <a:off x="1325880" y="169164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Statistics layer</a:t>
            </a:r>
            <a:endParaRPr lang="en-US" sz="1700" dirty="0"/>
          </a:p>
        </p:txBody>
      </p:sp>
      <p:sp>
        <p:nvSpPr>
          <p:cNvPr id="7" name="Text 5"/>
          <p:cNvSpPr txBox="1"/>
          <p:nvPr/>
        </p:nvSpPr>
        <p:spPr>
          <a:xfrm>
            <a:off x="1325880" y="202996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Fits revenue per 1k requests against log floor over 21 days. Step is capped and shrinks when confidence is low.</a:t>
            </a:r>
            <a:endParaRPr lang="en-US" sz="1350" dirty="0"/>
          </a:p>
        </p:txBody>
      </p:sp>
      <p:sp>
        <p:nvSpPr>
          <p:cNvPr id="8" name="Shape 6"/>
          <p:cNvSpPr/>
          <p:nvPr/>
        </p:nvSpPr>
        <p:spPr>
          <a:xfrm>
            <a:off x="548640" y="2788920"/>
            <a:ext cx="548640" cy="548640"/>
          </a:xfrm>
          <a:prstGeom prst="ellipse">
            <a:avLst/>
          </a:prstGeom>
          <a:solidFill>
            <a:srgbClr val="F26B1D"/>
          </a:solidFill>
          <a:ln w="12700">
            <a:solidFill>
              <a:srgbClr val="F26B1D"/>
            </a:solidFill>
            <a:prstDash val="solid"/>
          </a:ln>
        </p:spPr>
      </p:sp>
      <p:sp>
        <p:nvSpPr>
          <p:cNvPr id="9" name="Text 7"/>
          <p:cNvSpPr txBox="1"/>
          <p:nvPr/>
        </p:nvSpPr>
        <p:spPr>
          <a:xfrm>
            <a:off x="548640" y="27889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2</a:t>
            </a:r>
            <a:endParaRPr lang="en-US" sz="2000" dirty="0"/>
          </a:p>
        </p:txBody>
      </p:sp>
      <p:sp>
        <p:nvSpPr>
          <p:cNvPr id="10" name="Text 8"/>
          <p:cNvSpPr txBox="1"/>
          <p:nvPr/>
        </p:nvSpPr>
        <p:spPr>
          <a:xfrm>
            <a:off x="1325880" y="269748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Agent that can refuse</a:t>
            </a:r>
            <a:endParaRPr lang="en-US" sz="1700" dirty="0"/>
          </a:p>
        </p:txBody>
      </p:sp>
      <p:sp>
        <p:nvSpPr>
          <p:cNvPr id="11" name="Text 9"/>
          <p:cNvSpPr txBox="1"/>
          <p:nvPr/>
        </p:nvSpPr>
        <p:spPr>
          <a:xfrm>
            <a:off x="1325880" y="303580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Reads ops notes and data-quality signals. Returns a trust plan, never a price. Refuses on thin traffic, flat floors, outlier days.</a:t>
            </a:r>
            <a:endParaRPr lang="en-US" sz="1350" dirty="0"/>
          </a:p>
        </p:txBody>
      </p:sp>
      <p:sp>
        <p:nvSpPr>
          <p:cNvPr id="12" name="Shape 10"/>
          <p:cNvSpPr/>
          <p:nvPr/>
        </p:nvSpPr>
        <p:spPr>
          <a:xfrm>
            <a:off x="548640" y="3794760"/>
            <a:ext cx="548640" cy="548640"/>
          </a:xfrm>
          <a:prstGeom prst="ellipse">
            <a:avLst/>
          </a:prstGeom>
          <a:solidFill>
            <a:srgbClr val="F26B1D"/>
          </a:solidFill>
          <a:ln w="12700">
            <a:solidFill>
              <a:srgbClr val="F26B1D"/>
            </a:solidFill>
            <a:prstDash val="solid"/>
          </a:ln>
        </p:spPr>
      </p:sp>
      <p:sp>
        <p:nvSpPr>
          <p:cNvPr id="13" name="Text 11"/>
          <p:cNvSpPr txBox="1"/>
          <p:nvPr/>
        </p:nvSpPr>
        <p:spPr>
          <a:xfrm>
            <a:off x="54864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Georgia" pitchFamily="34" charset="0"/>
                <a:ea typeface="Georgia" pitchFamily="34" charset="-122"/>
                <a:cs typeface="Georgia" pitchFamily="34" charset="-120"/>
              </a:rPr>
              <a:t>3</a:t>
            </a:r>
            <a:endParaRPr lang="en-US" sz="2000" dirty="0"/>
          </a:p>
        </p:txBody>
      </p:sp>
      <p:sp>
        <p:nvSpPr>
          <p:cNvPr id="14" name="Text 12"/>
          <p:cNvSpPr txBox="1"/>
          <p:nvPr/>
        </p:nvSpPr>
        <p:spPr>
          <a:xfrm>
            <a:off x="1325880" y="3703320"/>
            <a:ext cx="7223760" cy="320040"/>
          </a:xfrm>
          <a:prstGeom prst="rect">
            <a:avLst/>
          </a:prstGeom>
          <a:noFill/>
          <a:ln/>
        </p:spPr>
        <p:txBody>
          <a:bodyPr wrap="square" lIns="0" tIns="0" rIns="0" bIns="0" rtlCol="0" anchor="ctr"/>
          <a:lstStyle/>
          <a:p>
            <a:pPr indent="0" marL="0">
              <a:buNone/>
            </a:pPr>
            <a:r>
              <a:rPr lang="en-US" sz="1700" b="1" dirty="0">
                <a:solidFill>
                  <a:srgbClr val="111111"/>
                </a:solidFill>
                <a:latin typeface="Georgia" pitchFamily="34" charset="0"/>
                <a:ea typeface="Georgia" pitchFamily="34" charset="-122"/>
                <a:cs typeface="Georgia" pitchFamily="34" charset="-120"/>
              </a:rPr>
              <a:t>Human decides</a:t>
            </a:r>
            <a:endParaRPr lang="en-US" sz="1700" dirty="0"/>
          </a:p>
        </p:txBody>
      </p:sp>
      <p:sp>
        <p:nvSpPr>
          <p:cNvPr id="15" name="Text 13"/>
          <p:cNvSpPr txBox="1"/>
          <p:nvPr/>
        </p:nvSpPr>
        <p:spPr>
          <a:xfrm>
            <a:off x="1325880" y="4041648"/>
            <a:ext cx="7223760" cy="548640"/>
          </a:xfrm>
          <a:prstGeom prst="rect">
            <a:avLst/>
          </a:prstGeom>
          <a:noFill/>
          <a:ln/>
        </p:spPr>
        <p:txBody>
          <a:bodyPr wrap="square" lIns="0" tIns="0" rIns="0" bIns="0" rtlCol="0" anchor="t"/>
          <a:lstStyle/>
          <a:p>
            <a:pPr indent="0" marL="0">
              <a:buNone/>
            </a:pPr>
            <a:r>
              <a:rPr lang="en-US" sz="1350" dirty="0">
                <a:solidFill>
                  <a:srgbClr val="6B6B6B"/>
                </a:solidFill>
                <a:latin typeface="Calibri" pitchFamily="34" charset="0"/>
                <a:ea typeface="Calibri" pitchFamily="34" charset="-122"/>
                <a:cs typeface="Calibri" pitchFamily="34" charset="-120"/>
              </a:rPr>
              <a:t>Every recommendation sits in a queue with its evidence. Ops accepts, edits or rejects, and the reason is logged.</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PRODUCT DEMO</a:t>
            </a:r>
            <a:endParaRPr lang="en-US" sz="1100" dirty="0"/>
          </a:p>
        </p:txBody>
      </p:sp>
      <p:sp>
        <p:nvSpPr>
          <p:cNvPr id="3" name="Text 1"/>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A working web app and a clickable demo</a:t>
            </a:r>
            <a:endParaRPr lang="en-US" sz="2600" dirty="0"/>
          </a:p>
        </p:txBody>
      </p:sp>
      <p:pic>
        <p:nvPicPr>
          <p:cNvPr id="4" name="Image 0" descr="desk.png">    </p:cNvPr>
          <p:cNvPicPr>
            <a:picLocks noChangeAspect="1"/>
          </p:cNvPicPr>
          <p:nvPr/>
        </p:nvPicPr>
        <p:blipFill>
          <a:blip r:embed="rId1"/>
          <a:stretch>
            <a:fillRect/>
          </a:stretch>
        </p:blipFill>
        <p:spPr>
          <a:xfrm>
            <a:off x="548640" y="1600200"/>
            <a:ext cx="4023360" cy="2660904"/>
          </a:xfrm>
          <a:prstGeom prst="rect">
            <a:avLst/>
          </a:prstGeom>
        </p:spPr>
      </p:pic>
      <p:pic>
        <p:nvPicPr>
          <p:cNvPr id="5" name="Image 1" descr="app.png">    </p:cNvPr>
          <p:cNvPicPr>
            <a:picLocks noChangeAspect="1"/>
          </p:cNvPicPr>
          <p:nvPr/>
        </p:nvPicPr>
        <p:blipFill>
          <a:blip r:embed="rId2"/>
          <a:stretch>
            <a:fillRect/>
          </a:stretch>
        </p:blipFill>
        <p:spPr>
          <a:xfrm>
            <a:off x="4709160" y="1600200"/>
            <a:ext cx="3886200" cy="2423160"/>
          </a:xfrm>
          <a:prstGeom prst="rect">
            <a:avLst/>
          </a:prstGeom>
        </p:spPr>
      </p:pic>
      <p:sp>
        <p:nvSpPr>
          <p:cNvPr id="6" name="Text 2"/>
          <p:cNvSpPr txBox="1"/>
          <p:nvPr/>
        </p:nvSpPr>
        <p:spPr>
          <a:xfrm>
            <a:off x="548640" y="4315968"/>
            <a:ext cx="4023360" cy="274320"/>
          </a:xfrm>
          <a:prstGeom prst="rect">
            <a:avLst/>
          </a:prstGeom>
          <a:noFill/>
          <a:ln/>
        </p:spPr>
        <p:txBody>
          <a:bodyPr wrap="square" lIns="0" tIns="0" rIns="0" bIns="0" rtlCol="0" anchor="ctr"/>
          <a:lstStyle/>
          <a:p>
            <a:pPr indent="0" marL="0">
              <a:buNone/>
            </a:pPr>
            <a:r>
              <a:rPr lang="en-US" sz="1100" dirty="0">
                <a:solidFill>
                  <a:srgbClr val="6B6B6B"/>
                </a:solidFill>
                <a:latin typeface="Calibri" pitchFamily="34" charset="0"/>
                <a:ea typeface="Calibri" pitchFamily="34" charset="-122"/>
                <a:cs typeface="Calibri" pitchFamily="34" charset="-120"/>
              </a:rPr>
              <a:t>Floor desk: evidence beside every recommendation</a:t>
            </a:r>
            <a:endParaRPr lang="en-US" sz="1100" dirty="0"/>
          </a:p>
        </p:txBody>
      </p:sp>
      <p:sp>
        <p:nvSpPr>
          <p:cNvPr id="7" name="Text 3"/>
          <p:cNvSpPr txBox="1"/>
          <p:nvPr/>
        </p:nvSpPr>
        <p:spPr>
          <a:xfrm>
            <a:off x="4709160" y="4160520"/>
            <a:ext cx="3886200" cy="274320"/>
          </a:xfrm>
          <a:prstGeom prst="rect">
            <a:avLst/>
          </a:prstGeom>
          <a:noFill/>
          <a:ln/>
        </p:spPr>
        <p:txBody>
          <a:bodyPr wrap="square" lIns="0" tIns="0" rIns="0" bIns="0" rtlCol="0" anchor="ctr"/>
          <a:lstStyle/>
          <a:p>
            <a:pPr indent="0" marL="0">
              <a:buNone/>
            </a:pPr>
            <a:r>
              <a:rPr lang="en-US" sz="1100" dirty="0">
                <a:solidFill>
                  <a:srgbClr val="6B6B6B"/>
                </a:solidFill>
                <a:latin typeface="Calibri" pitchFamily="34" charset="0"/>
                <a:ea typeface="Calibri" pitchFamily="34" charset="-122"/>
                <a:cs typeface="Calibri" pitchFamily="34" charset="-120"/>
              </a:rPr>
              <a:t>Web app: decision log with reasons, CSV in and out</a:t>
            </a:r>
            <a:endParaRPr lang="en-US" sz="1100" dirty="0"/>
          </a:p>
        </p:txBody>
      </p:sp>
      <p:sp>
        <p:nvSpPr>
          <p:cNvPr id="8" name="Text 4"/>
          <p:cNvSpPr txBox="1"/>
          <p:nvPr/>
        </p:nvSpPr>
        <p:spPr>
          <a:xfrm>
            <a:off x="548640" y="4663440"/>
            <a:ext cx="8046720" cy="274320"/>
          </a:xfrm>
          <a:prstGeom prst="rect">
            <a:avLst/>
          </a:prstGeom>
          <a:noFill/>
          <a:ln/>
        </p:spPr>
        <p:txBody>
          <a:bodyPr wrap="square" lIns="0" tIns="0" rIns="0" bIns="0" rtlCol="0" anchor="ctr"/>
          <a:lstStyle/>
          <a:p>
            <a:pPr indent="0" marL="0">
              <a:buNone/>
            </a:pPr>
            <a:r>
              <a:rPr lang="en-US" sz="1100" b="1" dirty="0">
                <a:solidFill>
                  <a:srgbClr val="F26B1D"/>
                </a:solidFill>
                <a:latin typeface="Calibri" pitchFamily="34" charset="0"/>
                <a:ea typeface="Calibri" pitchFamily="34" charset="-122"/>
                <a:cs typeface="Calibri" pitchFamily="34" charset="-120"/>
              </a:rPr>
              <a:t>plumb-floor-pricing-demo.vercel.app   |   github.com/Johnbritt/Plumb-Floor-Pricing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TRACTION</a:t>
            </a:r>
            <a:endParaRPr lang="en-US" sz="1100" dirty="0"/>
          </a:p>
        </p:txBody>
      </p:sp>
      <p:sp>
        <p:nvSpPr>
          <p:cNvPr id="3" name="Text 1"/>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What exists today, all verifiable in the repo</a:t>
            </a:r>
            <a:endParaRPr lang="en-US" sz="2600" dirty="0"/>
          </a:p>
        </p:txBody>
      </p:sp>
      <p:sp>
        <p:nvSpPr>
          <p:cNvPr id="4" name="Text 2"/>
          <p:cNvSpPr txBox="1"/>
          <p:nvPr/>
        </p:nvSpPr>
        <p:spPr>
          <a:xfrm>
            <a:off x="548640" y="169164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40 x 180</a:t>
            </a:r>
            <a:endParaRPr lang="en-US" sz="3800" dirty="0"/>
          </a:p>
        </p:txBody>
      </p:sp>
      <p:sp>
        <p:nvSpPr>
          <p:cNvPr id="5" name="Text 3"/>
          <p:cNvSpPr txBox="1"/>
          <p:nvPr/>
        </p:nvSpPr>
        <p:spPr>
          <a:xfrm>
            <a:off x="548640" y="235000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sample cells and days, with events and ops notes</a:t>
            </a:r>
            <a:endParaRPr lang="en-US" sz="1400" dirty="0"/>
          </a:p>
        </p:txBody>
      </p:sp>
      <p:sp>
        <p:nvSpPr>
          <p:cNvPr id="6" name="Text 4"/>
          <p:cNvSpPr txBox="1"/>
          <p:nvPr/>
        </p:nvSpPr>
        <p:spPr>
          <a:xfrm>
            <a:off x="4663440" y="169164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6</a:t>
            </a:r>
            <a:endParaRPr lang="en-US" sz="3800" dirty="0"/>
          </a:p>
        </p:txBody>
      </p:sp>
      <p:sp>
        <p:nvSpPr>
          <p:cNvPr id="7" name="Text 5"/>
          <p:cNvSpPr txBox="1"/>
          <p:nvPr/>
        </p:nvSpPr>
        <p:spPr>
          <a:xfrm>
            <a:off x="4663440" y="235000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arms evaluated, scored on a held-out world</a:t>
            </a:r>
            <a:endParaRPr lang="en-US" sz="1400" dirty="0"/>
          </a:p>
        </p:txBody>
      </p:sp>
      <p:sp>
        <p:nvSpPr>
          <p:cNvPr id="8" name="Text 6"/>
          <p:cNvSpPr txBox="1"/>
          <p:nvPr/>
        </p:nvSpPr>
        <p:spPr>
          <a:xfrm>
            <a:off x="548640" y="301752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100</a:t>
            </a:r>
            <a:endParaRPr lang="en-US" sz="3800" dirty="0"/>
          </a:p>
        </p:txBody>
      </p:sp>
      <p:sp>
        <p:nvSpPr>
          <p:cNvPr id="9" name="Text 7"/>
          <p:cNvSpPr txBox="1"/>
          <p:nvPr/>
        </p:nvSpPr>
        <p:spPr>
          <a:xfrm>
            <a:off x="548640" y="367588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test runs per pilot design, plus A/A placebo</a:t>
            </a:r>
            <a:endParaRPr lang="en-US" sz="1400" dirty="0"/>
          </a:p>
        </p:txBody>
      </p:sp>
      <p:sp>
        <p:nvSpPr>
          <p:cNvPr id="10" name="Text 8"/>
          <p:cNvSpPr txBox="1"/>
          <p:nvPr/>
        </p:nvSpPr>
        <p:spPr>
          <a:xfrm>
            <a:off x="4663440" y="3017520"/>
            <a:ext cx="3840480" cy="640080"/>
          </a:xfrm>
          <a:prstGeom prst="rect">
            <a:avLst/>
          </a:prstGeom>
          <a:noFill/>
          <a:ln/>
        </p:spPr>
        <p:txBody>
          <a:bodyPr wrap="square" lIns="0" tIns="0" rIns="0" bIns="0" rtlCol="0" anchor="ctr"/>
          <a:lstStyle/>
          <a:p>
            <a:pPr indent="0" marL="0">
              <a:buNone/>
            </a:pPr>
            <a:r>
              <a:rPr lang="en-US" sz="3800" b="1" dirty="0">
                <a:solidFill>
                  <a:srgbClr val="F26B1D"/>
                </a:solidFill>
                <a:latin typeface="Georgia" pitchFamily="34" charset="0"/>
                <a:ea typeface="Georgia" pitchFamily="34" charset="-122"/>
                <a:cs typeface="Georgia" pitchFamily="34" charset="-120"/>
              </a:rPr>
              <a:t>11</a:t>
            </a:r>
            <a:endParaRPr lang="en-US" sz="3800" dirty="0"/>
          </a:p>
        </p:txBody>
      </p:sp>
      <p:sp>
        <p:nvSpPr>
          <p:cNvPr id="11" name="Text 9"/>
          <p:cNvSpPr txBox="1"/>
          <p:nvPr/>
        </p:nvSpPr>
        <p:spPr>
          <a:xfrm>
            <a:off x="4663440" y="3675888"/>
            <a:ext cx="3657600" cy="457200"/>
          </a:xfrm>
          <a:prstGeom prst="rect">
            <a:avLst/>
          </a:prstGeom>
          <a:noFill/>
          <a:ln/>
        </p:spPr>
        <p:txBody>
          <a:bodyPr wrap="square" lIns="0" tIns="0" rIns="0" bIns="0" rtlCol="0" anchor="t"/>
          <a:lstStyle/>
          <a:p>
            <a:pPr indent="0" marL="0">
              <a:buNone/>
            </a:pPr>
            <a:r>
              <a:rPr lang="en-US" sz="1400" dirty="0">
                <a:solidFill>
                  <a:srgbClr val="111111"/>
                </a:solidFill>
                <a:latin typeface="Calibri" pitchFamily="34" charset="0"/>
                <a:ea typeface="Calibri" pitchFamily="34" charset="-122"/>
                <a:cs typeface="Calibri" pitchFamily="34" charset="-120"/>
              </a:rPr>
              <a:t>automated tests, CI passing on GitHub</a:t>
            </a:r>
            <a:endParaRPr lang="en-US" sz="1400" dirty="0"/>
          </a:p>
        </p:txBody>
      </p:sp>
      <p:sp>
        <p:nvSpPr>
          <p:cNvPr id="12" name="Text 10"/>
          <p:cNvSpPr txBox="1"/>
          <p:nvPr/>
        </p:nvSpPr>
        <p:spPr>
          <a:xfrm>
            <a:off x="548640" y="4434840"/>
            <a:ext cx="8046720" cy="457200"/>
          </a:xfrm>
          <a:prstGeom prst="rect">
            <a:avLst/>
          </a:prstGeom>
          <a:noFill/>
          <a:ln/>
        </p:spPr>
        <p:txBody>
          <a:bodyPr wrap="square" lIns="0" tIns="0" rIns="0" bIns="0" rtlCol="0" anchor="ctr"/>
          <a:lstStyle/>
          <a:p>
            <a:pPr indent="0" marL="0">
              <a:buNone/>
            </a:pPr>
            <a:r>
              <a:rPr lang="en-US" sz="1300" i="1" dirty="0">
                <a:solidFill>
                  <a:srgbClr val="6B6B6B"/>
                </a:solidFill>
                <a:latin typeface="Calibri" pitchFamily="34" charset="0"/>
                <a:ea typeface="Calibri" pitchFamily="34" charset="-122"/>
                <a:cs typeface="Calibri" pitchFamily="34" charset="-120"/>
              </a:rPr>
              <a:t>Next: a matched-cell pilot with real ops colleagues. Success criteria are already written and checked on sample data.</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RESULTS ON SAMPLE DATA</a:t>
            </a:r>
            <a:endParaRPr lang="en-US" sz="1100" dirty="0"/>
          </a:p>
        </p:txBody>
      </p:sp>
      <p:sp>
        <p:nvSpPr>
          <p:cNvPr id="3" name="Text 1"/>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The statistics layer does the work. Refusal buys safety.</a:t>
            </a:r>
            <a:endParaRPr lang="en-US" sz="2600" dirty="0"/>
          </a:p>
        </p:txBody>
      </p:sp>
      <p:graphicFrame>
        <p:nvGraphicFramePr>
          <p:cNvPr id="4" name="Chart 0" descr=""/>
          <p:cNvGraphicFramePr/>
          <p:nvPr/>
        </p:nvGraphicFramePr>
        <p:xfrm>
          <a:off x="457200" y="155448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852160" y="1737360"/>
            <a:ext cx="2834640" cy="2926080"/>
          </a:xfrm>
          <a:prstGeom prst="rect">
            <a:avLst/>
          </a:prstGeom>
          <a:noFill/>
          <a:ln/>
        </p:spPr>
        <p:txBody>
          <a:bodyPr wrap="square" lIns="0" tIns="0" rIns="0" bIns="0" rtlCol="0" anchor="t"/>
          <a:lstStyle/>
          <a:p>
            <a:pPr indent="0" marL="0">
              <a:spcAft>
                <a:spcPts val="400"/>
              </a:spcAft>
              <a:buNone/>
            </a:pPr>
            <a:r>
              <a:rPr lang="en-US" sz="1300" b="1" dirty="0">
                <a:solidFill>
                  <a:srgbClr val="111111"/>
                </a:solidFill>
                <a:latin typeface="Calibri" pitchFamily="34" charset="0"/>
                <a:ea typeface="Calibri" pitchFamily="34" charset="-122"/>
                <a:cs typeface="Calibri" pitchFamily="34" charset="-120"/>
              </a:rPr>
              <a:t>Harmful moves</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Ops alone 16.3%. Unguarded stats 6.2%. Guarded 2.6% to 3.0%.</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 </a:t>
            </a:r>
            <a:endParaRPr lang="en-US" sz="1300" dirty="0"/>
          </a:p>
          <a:p>
            <a:pPr indent="0" marL="0">
              <a:spcAft>
                <a:spcPts val="400"/>
              </a:spcAft>
              <a:buNone/>
            </a:pPr>
            <a:r>
              <a:rPr lang="en-US" sz="1300" b="1" dirty="0">
                <a:solidFill>
                  <a:srgbClr val="111111"/>
                </a:solidFill>
                <a:latin typeface="Calibri" pitchFamily="34" charset="0"/>
                <a:ea typeface="Calibri" pitchFamily="34" charset="-122"/>
                <a:cs typeface="Calibri" pitchFamily="34" charset="-120"/>
              </a:rPr>
              <a:t>What did not hold</a:t>
            </a:r>
            <a:endParaRPr lang="en-US" sz="1300" dirty="0"/>
          </a:p>
          <a:p>
            <a:pPr indent="0" marL="0">
              <a:spcAft>
                <a:spcPts val="400"/>
              </a:spcAft>
              <a:buNone/>
            </a:pPr>
            <a:r>
              <a:rPr lang="en-US" sz="1300" dirty="0">
                <a:solidFill>
                  <a:srgbClr val="111111"/>
                </a:solidFill>
                <a:latin typeface="Calibri" pitchFamily="34" charset="0"/>
                <a:ea typeface="Calibri" pitchFamily="34" charset="-122"/>
                <a:cs typeface="Calibri" pitchFamily="34" charset="-120"/>
              </a:rPr>
              <a:t>The agent stand-in did not beat a plain rule. The pair did not beat the model alone. Both stay open until the Claude backend is run.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BUILD JOURNEY</a:t>
            </a:r>
            <a:endParaRPr lang="en-US" sz="1100" dirty="0"/>
          </a:p>
        </p:txBody>
      </p:sp>
      <p:sp>
        <p:nvSpPr>
          <p:cNvPr id="3" name="Text 1"/>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The findings changed the design four times</a:t>
            </a:r>
            <a:endParaRPr lang="en-US" sz="2600" dirty="0"/>
          </a:p>
        </p:txBody>
      </p:sp>
      <p:sp>
        <p:nvSpPr>
          <p:cNvPr id="4" name="Text 2"/>
          <p:cNvSpPr txBox="1"/>
          <p:nvPr/>
        </p:nvSpPr>
        <p:spPr>
          <a:xfrm>
            <a:off x="548640" y="155448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Scope</a:t>
            </a:r>
            <a:endParaRPr lang="en-US" sz="1500" dirty="0"/>
          </a:p>
        </p:txBody>
      </p:sp>
      <p:sp>
        <p:nvSpPr>
          <p:cNvPr id="5" name="Text 3"/>
          <p:cNvSpPr txBox="1"/>
          <p:nvPr/>
        </p:nvSpPr>
        <p:spPr>
          <a:xfrm>
            <a:off x="1828800" y="155448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Started as a VAST/GAM discrepancy adjudicator, narrowed to floor pricing where the decision and the outcome are both measurable</a:t>
            </a:r>
            <a:endParaRPr lang="en-US" sz="1300" dirty="0"/>
          </a:p>
        </p:txBody>
      </p:sp>
      <p:sp>
        <p:nvSpPr>
          <p:cNvPr id="6" name="Shape 4"/>
          <p:cNvSpPr/>
          <p:nvPr/>
        </p:nvSpPr>
        <p:spPr>
          <a:xfrm>
            <a:off x="548640" y="2148840"/>
            <a:ext cx="8046720" cy="0"/>
          </a:xfrm>
          <a:prstGeom prst="line">
            <a:avLst/>
          </a:prstGeom>
          <a:noFill/>
          <a:ln w="9525">
            <a:solidFill>
              <a:srgbClr val="E5E5E5"/>
            </a:solidFill>
            <a:prstDash val="solid"/>
          </a:ln>
        </p:spPr>
      </p:sp>
      <p:sp>
        <p:nvSpPr>
          <p:cNvPr id="7" name="Text 5"/>
          <p:cNvSpPr txBox="1"/>
          <p:nvPr/>
        </p:nvSpPr>
        <p:spPr>
          <a:xfrm>
            <a:off x="548640" y="219456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v1</a:t>
            </a:r>
            <a:endParaRPr lang="en-US" sz="1500" dirty="0"/>
          </a:p>
        </p:txBody>
      </p:sp>
      <p:sp>
        <p:nvSpPr>
          <p:cNvPr id="8" name="Text 6"/>
          <p:cNvSpPr txBox="1"/>
          <p:nvPr/>
        </p:nvSpPr>
        <p:spPr>
          <a:xfrm>
            <a:off x="1828800" y="219456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Hard significance gate refused 82% of days and cost 1.7 points. Replaced by a confidence-scaled step</a:t>
            </a:r>
            <a:endParaRPr lang="en-US" sz="1300" dirty="0"/>
          </a:p>
        </p:txBody>
      </p:sp>
      <p:sp>
        <p:nvSpPr>
          <p:cNvPr id="9" name="Shape 7"/>
          <p:cNvSpPr/>
          <p:nvPr/>
        </p:nvSpPr>
        <p:spPr>
          <a:xfrm>
            <a:off x="548640" y="2788920"/>
            <a:ext cx="8046720" cy="0"/>
          </a:xfrm>
          <a:prstGeom prst="line">
            <a:avLst/>
          </a:prstGeom>
          <a:noFill/>
          <a:ln w="9525">
            <a:solidFill>
              <a:srgbClr val="E5E5E5"/>
            </a:solidFill>
            <a:prstDash val="solid"/>
          </a:ln>
        </p:spPr>
      </p:sp>
      <p:sp>
        <p:nvSpPr>
          <p:cNvPr id="10" name="Text 8"/>
          <p:cNvSpPr txBox="1"/>
          <p:nvPr/>
        </p:nvSpPr>
        <p:spPr>
          <a:xfrm>
            <a:off x="548640" y="283464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Metric</a:t>
            </a:r>
            <a:endParaRPr lang="en-US" sz="1500" dirty="0"/>
          </a:p>
        </p:txBody>
      </p:sp>
      <p:sp>
        <p:nvSpPr>
          <p:cNvPr id="11" name="Text 9"/>
          <p:cNvSpPr txBox="1"/>
          <p:nvPr/>
        </p:nvSpPr>
        <p:spPr>
          <a:xfrm>
            <a:off x="1828800" y="283464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Exploration jitter made held floors look harmful. Harm redefined: move over 10% and revenue down over 1%</a:t>
            </a:r>
            <a:endParaRPr lang="en-US" sz="1300" dirty="0"/>
          </a:p>
        </p:txBody>
      </p:sp>
      <p:sp>
        <p:nvSpPr>
          <p:cNvPr id="12" name="Shape 10"/>
          <p:cNvSpPr/>
          <p:nvPr/>
        </p:nvSpPr>
        <p:spPr>
          <a:xfrm>
            <a:off x="548640" y="3429000"/>
            <a:ext cx="8046720" cy="0"/>
          </a:xfrm>
          <a:prstGeom prst="line">
            <a:avLst/>
          </a:prstGeom>
          <a:noFill/>
          <a:ln w="9525">
            <a:solidFill>
              <a:srgbClr val="E5E5E5"/>
            </a:solidFill>
            <a:prstDash val="solid"/>
          </a:ln>
        </p:spPr>
      </p:sp>
      <p:sp>
        <p:nvSpPr>
          <p:cNvPr id="13" name="Text 11"/>
          <p:cNvSpPr txBox="1"/>
          <p:nvPr/>
        </p:nvSpPr>
        <p:spPr>
          <a:xfrm>
            <a:off x="548640" y="347472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Findings</a:t>
            </a:r>
            <a:endParaRPr lang="en-US" sz="1500" dirty="0"/>
          </a:p>
        </p:txBody>
      </p:sp>
      <p:sp>
        <p:nvSpPr>
          <p:cNvPr id="14" name="Text 12"/>
          <p:cNvSpPr txBox="1"/>
          <p:nvPr/>
        </p:nvSpPr>
        <p:spPr>
          <a:xfrm>
            <a:off x="1828800" y="347472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Refusing thin cells freezes learning. Holding during an outage can hurt</a:t>
            </a:r>
            <a:endParaRPr lang="en-US" sz="1300" dirty="0"/>
          </a:p>
        </p:txBody>
      </p:sp>
      <p:sp>
        <p:nvSpPr>
          <p:cNvPr id="15" name="Shape 13"/>
          <p:cNvSpPr/>
          <p:nvPr/>
        </p:nvSpPr>
        <p:spPr>
          <a:xfrm>
            <a:off x="548640" y="4069080"/>
            <a:ext cx="8046720" cy="0"/>
          </a:xfrm>
          <a:prstGeom prst="line">
            <a:avLst/>
          </a:prstGeom>
          <a:noFill/>
          <a:ln w="9525">
            <a:solidFill>
              <a:srgbClr val="E5E5E5"/>
            </a:solidFill>
            <a:prstDash val="solid"/>
          </a:ln>
        </p:spPr>
      </p:sp>
      <p:sp>
        <p:nvSpPr>
          <p:cNvPr id="16" name="Text 14"/>
          <p:cNvSpPr txBox="1"/>
          <p:nvPr/>
        </p:nvSpPr>
        <p:spPr>
          <a:xfrm>
            <a:off x="548640" y="4114800"/>
            <a:ext cx="1188720" cy="548640"/>
          </a:xfrm>
          <a:prstGeom prst="rect">
            <a:avLst/>
          </a:prstGeom>
          <a:noFill/>
          <a:ln/>
        </p:spPr>
        <p:txBody>
          <a:bodyPr wrap="square" lIns="0" tIns="0" rIns="0" bIns="0" rtlCol="0" anchor="ctr"/>
          <a:lstStyle/>
          <a:p>
            <a:pPr indent="0" marL="0">
              <a:buNone/>
            </a:pPr>
            <a:r>
              <a:rPr lang="en-US" sz="1500" b="1" dirty="0">
                <a:solidFill>
                  <a:srgbClr val="F26B1D"/>
                </a:solidFill>
                <a:latin typeface="Georgia" pitchFamily="34" charset="0"/>
                <a:ea typeface="Georgia" pitchFamily="34" charset="-122"/>
                <a:cs typeface="Georgia" pitchFamily="34" charset="-120"/>
              </a:rPr>
              <a:t>Pilot</a:t>
            </a:r>
            <a:endParaRPr lang="en-US" sz="1500" dirty="0"/>
          </a:p>
        </p:txBody>
      </p:sp>
      <p:sp>
        <p:nvSpPr>
          <p:cNvPr id="17" name="Text 15"/>
          <p:cNvSpPr txBox="1"/>
          <p:nvPr/>
        </p:nvSpPr>
        <p:spPr>
          <a:xfrm>
            <a:off x="1828800" y="4114800"/>
            <a:ext cx="6766560" cy="548640"/>
          </a:xfrm>
          <a:prstGeom prst="rect">
            <a:avLst/>
          </a:prstGeom>
          <a:noFill/>
          <a:ln/>
        </p:spPr>
        <p:txBody>
          <a:bodyPr wrap="square" lIns="0" tIns="0" rIns="0" bIns="0" rtlCol="0" anchor="ctr"/>
          <a:lstStyle/>
          <a:p>
            <a:pPr indent="0" marL="0">
              <a:buNone/>
            </a:pPr>
            <a:r>
              <a:rPr lang="en-US" sz="1300" dirty="0">
                <a:solidFill>
                  <a:srgbClr val="111111"/>
                </a:solidFill>
                <a:latin typeface="Calibri" pitchFamily="34" charset="0"/>
                <a:ea typeface="Calibri" pitchFamily="34" charset="-122"/>
                <a:cs typeface="Calibri" pitchFamily="34" charset="-120"/>
              </a:rPr>
              <a:t>Tested the pilot design itself: 20 cells for one week passes 26% of the time. Redesigned to 40 cells, 4 live weeks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274320"/>
          </a:xfrm>
          <a:prstGeom prst="rect">
            <a:avLst/>
          </a:prstGeom>
          <a:noFill/>
          <a:ln/>
        </p:spPr>
        <p:txBody>
          <a:bodyPr wrap="square" lIns="0" tIns="0" rIns="0" bIns="0" rtlCol="0" anchor="ctr"/>
          <a:lstStyle/>
          <a:p>
            <a:pPr indent="0" marL="0">
              <a:buNone/>
            </a:pPr>
            <a:r>
              <a:rPr lang="en-US" sz="1100" b="1" spc="300" kern="0" dirty="0">
                <a:solidFill>
                  <a:srgbClr val="F26B1D"/>
                </a:solidFill>
                <a:latin typeface="Calibri" pitchFamily="34" charset="0"/>
                <a:ea typeface="Calibri" pitchFamily="34" charset="-122"/>
                <a:cs typeface="Calibri" pitchFamily="34" charset="-120"/>
              </a:rPr>
              <a:t>TEAM</a:t>
            </a:r>
            <a:endParaRPr lang="en-US" sz="1100" dirty="0"/>
          </a:p>
        </p:txBody>
      </p:sp>
      <p:sp>
        <p:nvSpPr>
          <p:cNvPr id="3" name="Text 1"/>
          <p:cNvSpPr txBox="1"/>
          <p:nvPr/>
        </p:nvSpPr>
        <p:spPr>
          <a:xfrm>
            <a:off x="548640" y="658368"/>
            <a:ext cx="8046720" cy="822960"/>
          </a:xfrm>
          <a:prstGeom prst="rect">
            <a:avLst/>
          </a:prstGeom>
          <a:noFill/>
          <a:ln/>
        </p:spPr>
        <p:txBody>
          <a:bodyPr wrap="square" lIns="0" tIns="0" rIns="0" bIns="0" rtlCol="0" anchor="t"/>
          <a:lstStyle/>
          <a:p>
            <a:pPr indent="0" marL="0">
              <a:buNone/>
            </a:pPr>
            <a:r>
              <a:rPr lang="en-US" sz="2600" b="1" dirty="0">
                <a:solidFill>
                  <a:srgbClr val="111111"/>
                </a:solidFill>
                <a:latin typeface="Georgia" pitchFamily="34" charset="0"/>
                <a:ea typeface="Georgia" pitchFamily="34" charset="-122"/>
                <a:cs typeface="Georgia" pitchFamily="34" charset="-120"/>
              </a:rPr>
              <a:t>One builder, product and engineering in one head</a:t>
            </a:r>
            <a:endParaRPr lang="en-US" sz="2600" dirty="0"/>
          </a:p>
        </p:txBody>
      </p:sp>
      <p:sp>
        <p:nvSpPr>
          <p:cNvPr id="4" name="Text 2"/>
          <p:cNvSpPr txBox="1"/>
          <p:nvPr/>
        </p:nvSpPr>
        <p:spPr>
          <a:xfrm>
            <a:off x="548640" y="1645920"/>
            <a:ext cx="7315200" cy="457200"/>
          </a:xfrm>
          <a:prstGeom prst="rect">
            <a:avLst/>
          </a:prstGeom>
          <a:noFill/>
          <a:ln/>
        </p:spPr>
        <p:txBody>
          <a:bodyPr wrap="square" lIns="0" tIns="0" rIns="0" bIns="0" rtlCol="0" anchor="ctr"/>
          <a:lstStyle/>
          <a:p>
            <a:pPr indent="0" marL="0">
              <a:buNone/>
            </a:pPr>
            <a:r>
              <a:rPr lang="en-US" sz="2400" b="1" dirty="0">
                <a:solidFill>
                  <a:srgbClr val="111111"/>
                </a:solidFill>
                <a:latin typeface="Georgia" pitchFamily="34" charset="0"/>
                <a:ea typeface="Georgia" pitchFamily="34" charset="-122"/>
                <a:cs typeface="Georgia" pitchFamily="34" charset="-120"/>
              </a:rPr>
              <a:t>J John Britto</a:t>
            </a:r>
            <a:endParaRPr lang="en-US" sz="2400" dirty="0"/>
          </a:p>
        </p:txBody>
      </p:sp>
      <p:sp>
        <p:nvSpPr>
          <p:cNvPr id="5" name="Text 3"/>
          <p:cNvSpPr txBox="1"/>
          <p:nvPr/>
        </p:nvSpPr>
        <p:spPr>
          <a:xfrm>
            <a:off x="548640" y="2103120"/>
            <a:ext cx="7315200" cy="320040"/>
          </a:xfrm>
          <a:prstGeom prst="rect">
            <a:avLst/>
          </a:prstGeom>
          <a:noFill/>
          <a:ln/>
        </p:spPr>
        <p:txBody>
          <a:bodyPr wrap="square" lIns="0" tIns="0" rIns="0" bIns="0" rtlCol="0" anchor="ctr"/>
          <a:lstStyle/>
          <a:p>
            <a:pPr indent="0" marL="0">
              <a:buNone/>
            </a:pPr>
            <a:r>
              <a:rPr lang="en-US" sz="1500" b="1" dirty="0">
                <a:solidFill>
                  <a:srgbClr val="F26B1D"/>
                </a:solidFill>
                <a:latin typeface="Calibri" pitchFamily="34" charset="0"/>
                <a:ea typeface="Calibri" pitchFamily="34" charset="-122"/>
                <a:cs typeface="Calibri" pitchFamily="34" charset="-120"/>
              </a:rPr>
              <a:t>Head of Product &amp; Technology, Bengaluru</a:t>
            </a:r>
            <a:endParaRPr lang="en-US" sz="1500" dirty="0"/>
          </a:p>
        </p:txBody>
      </p:sp>
      <p:sp>
        <p:nvSpPr>
          <p:cNvPr id="6" name="Text 4"/>
          <p:cNvSpPr txBox="1"/>
          <p:nvPr/>
        </p:nvSpPr>
        <p:spPr>
          <a:xfrm>
            <a:off x="548640" y="2651760"/>
            <a:ext cx="804672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8+ years in AdTech, from UI/UX designer to Head of Product &amp; Technology</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Built ad servers, header bidding, OpenRTB exchange and reporting pipelines</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Leads backend, frontend and data engineers, and the roadmap</a:t>
            </a:r>
            <a:endParaRPr lang="en-US" sz="1500" dirty="0"/>
          </a:p>
          <a:p>
            <a:pPr marL="342900" indent="-342900">
              <a:spcAft>
                <a:spcPts val="600"/>
              </a:spcAft>
              <a:buSzPct val="100000"/>
              <a:buChar char="•"/>
            </a:pPr>
            <a:r>
              <a:rPr lang="en-US" sz="1500" dirty="0">
                <a:solidFill>
                  <a:srgbClr val="111111"/>
                </a:solidFill>
                <a:latin typeface="Calibri" pitchFamily="34" charset="0"/>
                <a:ea typeface="Calibri" pitchFamily="34" charset="-122"/>
                <a:cs typeface="Calibri" pitchFamily="34" charset="-120"/>
              </a:rPr>
              <a:t>PLUMB built solo: problem, statistics, agent design, evaluation, app</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640080" y="1371600"/>
            <a:ext cx="7680960" cy="1371600"/>
          </a:xfrm>
          <a:prstGeom prst="rect">
            <a:avLst/>
          </a:prstGeom>
          <a:noFill/>
          <a:ln/>
        </p:spPr>
        <p:txBody>
          <a:bodyPr wrap="square" lIns="0" tIns="0" rIns="0" bIns="0" rtlCol="0" anchor="t"/>
          <a:lstStyle/>
          <a:p>
            <a:pPr indent="0" marL="0">
              <a:buNone/>
            </a:pPr>
            <a:r>
              <a:rPr lang="en-US" sz="3400" b="1" dirty="0">
                <a:solidFill>
                  <a:srgbClr val="FFFFFF"/>
                </a:solidFill>
                <a:latin typeface="Georgia" pitchFamily="34" charset="0"/>
                <a:ea typeface="Georgia" pitchFamily="34" charset="-122"/>
                <a:cs typeface="Georgia" pitchFamily="34" charset="-120"/>
              </a:rPr>
              <a:t>Statistics propose. The agent can refuse. A human decides.</a:t>
            </a:r>
            <a:endParaRPr lang="en-US" sz="3400" dirty="0"/>
          </a:p>
        </p:txBody>
      </p:sp>
      <p:sp>
        <p:nvSpPr>
          <p:cNvPr id="3" name="Shape 1"/>
          <p:cNvSpPr/>
          <p:nvPr/>
        </p:nvSpPr>
        <p:spPr>
          <a:xfrm>
            <a:off x="640080" y="2926080"/>
            <a:ext cx="1097280" cy="54864"/>
          </a:xfrm>
          <a:prstGeom prst="rect">
            <a:avLst/>
          </a:prstGeom>
          <a:solidFill>
            <a:srgbClr val="F26B1D"/>
          </a:solidFill>
          <a:ln w="12700">
            <a:solidFill>
              <a:srgbClr val="F26B1D"/>
            </a:solidFill>
            <a:prstDash val="solid"/>
          </a:ln>
        </p:spPr>
      </p:sp>
      <p:sp>
        <p:nvSpPr>
          <p:cNvPr id="4" name="Text 2"/>
          <p:cNvSpPr txBox="1"/>
          <p:nvPr/>
        </p:nvSpPr>
        <p:spPr>
          <a:xfrm>
            <a:off x="640080" y="3200400"/>
            <a:ext cx="7680960" cy="822960"/>
          </a:xfrm>
          <a:prstGeom prst="rect">
            <a:avLst/>
          </a:prstGeom>
          <a:noFill/>
          <a:ln/>
        </p:spPr>
        <p:txBody>
          <a:bodyPr wrap="square" lIns="0" tIns="0" rIns="0" bIns="0" rtlCol="0" anchor="t"/>
          <a:lstStyle/>
          <a:p>
            <a:pPr indent="0" marL="0">
              <a:buNone/>
            </a:pPr>
            <a:r>
              <a:rPr lang="en-US" sz="1600" dirty="0">
                <a:solidFill>
                  <a:srgbClr val="D9D9D9"/>
                </a:solidFill>
                <a:latin typeface="Calibri" pitchFamily="34" charset="0"/>
                <a:ea typeface="Calibri" pitchFamily="34" charset="-122"/>
                <a:cs typeface="Calibri" pitchFamily="34" charset="-120"/>
              </a:rPr>
              <a:t>Demo: plumb-floor-pricing-demo.vercel.app</a:t>
            </a:r>
            <a:endParaRPr lang="en-US" sz="1600" dirty="0"/>
          </a:p>
          <a:p>
            <a:pPr indent="0" marL="0">
              <a:buNone/>
            </a:pPr>
            <a:r>
              <a:rPr lang="en-US" sz="1600" dirty="0">
                <a:solidFill>
                  <a:srgbClr val="D9D9D9"/>
                </a:solidFill>
                <a:latin typeface="Calibri" pitchFamily="34" charset="0"/>
                <a:ea typeface="Calibri" pitchFamily="34" charset="-122"/>
                <a:cs typeface="Calibri" pitchFamily="34" charset="-120"/>
              </a:rPr>
              <a:t>Code: github.com/Johnbritt/Plumb-Floor-Pricing</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PLUMB Pitch Deck</dc:title>
  <dc:subject>PptxGenJS Presentation</dc:subject>
  <dc:creator>J John Britto</dc:creator>
  <cp:lastModifiedBy>J John Britto</cp:lastModifiedBy>
  <cp:revision>1</cp:revision>
  <dcterms:created xsi:type="dcterms:W3CDTF">2026-10-09T21:12:06Z</dcterms:created>
  <dcterms:modified xsi:type="dcterms:W3CDTF">2026-10-09T21:12:06Z</dcterms:modified>
</cp:coreProperties>
</file>