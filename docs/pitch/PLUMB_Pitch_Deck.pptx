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11111"/>
                </a:solidFill>
                <a:latin typeface="Arial"/>
              </a:defRPr>
            </a:pPr>
            <a:r>
              <a:rPr sz="1100" b="0" i="0" u="none" strike="noStrike">
                <a:solidFill>
                  <a:srgbClr val="111111"/>
                </a:solidFill>
                <a:latin typeface="Arial"/>
              </a:rPr>
              <a:t>Revenue captured (% of best floor), held-out world</a:t>
            </a:r>
          </a:p>
        </c:rich>
      </c:tx>
      <c:layout/>
      <c:overlay val="0"/>
    </c:title>
    <c:autoTitleDeleted val="0"/>
    <c:plotArea>
      <c:layout/>
      <c:barChart>
        <c:barDir val="col"/>
        <c:grouping val="clustered"/>
        <c:varyColors val="0"/>
        <c:ser>
          <c:idx val="0"/>
          <c:order val="0"/>
          <c:tx>
            <c:strRef>
              <c:f>Sheet1!$B$1</c:f>
              <c:strCache>
                <c:ptCount val="1"/>
                <c:pt idx="0">
                  <c:v>Revenue captured %</c:v>
                </c:pt>
              </c:strCache>
            </c:strRef>
          </c:tx>
          <c:spPr>
            <a:solidFill>
              <a:srgbClr val="F26B1D"/>
            </a:solidFill>
            <a:effectLst/>
          </c:spPr>
          <c:invertIfNegative val="0"/>
          <c:dLbls>
            <c:numFmt formatCode="0.0" sourceLinked="0"/>
            <c:txPr>
              <a:bodyPr/>
              <a:lstStyle/>
              <a:p>
                <a:pPr>
                  <a:defRPr b="0" i="0" strike="noStrike" sz="1100" u="none">
                    <a:solidFill>
                      <a:srgbClr val="111111"/>
                    </a:solidFill>
                    <a:latin typeface="Arial"/>
                  </a:defRPr>
                </a:pPr>
              </a:p>
            </c:txPr>
            <c:showLegendKey val="0"/>
            <c:showVal val="1"/>
            <c:showCatName val="0"/>
            <c:showSerName val="0"/>
            <c:showPercent val="0"/>
            <c:showBubbleSize val="0"/>
            <c:showLeaderLines val="0"/>
          </c:dLbls>
          <c:cat>
            <c:multiLvlStrRef>
              <c:f>Sheet1!$A$2:$A$6</c:f>
              <c:multiLvlStrCache>
                <c:ptCount val="5"/>
                <c:lvl>
                  <c:pt idx="0">
                    <c:v>Ops alone</c:v>
                  </c:pt>
                  <c:pt idx="1">
                    <c:v>Stats, full step</c:v>
                  </c:pt>
                  <c:pt idx="2">
                    <c:v>Stats, scaled step</c:v>
                  </c:pt>
                  <c:pt idx="3">
                    <c:v>Stats + agent refusal</c:v>
                  </c:pt>
                  <c:pt idx="4">
                    <c:v>Ops + agent (pair)</c:v>
                  </c:pt>
                </c:lvl>
              </c:multiLvlStrCache>
            </c:multiLvlStrRef>
          </c:cat>
          <c:val>
            <c:numRef>
              <c:f>Sheet1!$B$2:$B$6</c:f>
              <c:numCache>
                <c:formatCode>General</c:formatCode>
                <c:ptCount val="5"/>
                <c:pt idx="0">
                  <c:v>78.7</c:v>
                </c:pt>
                <c:pt idx="1">
                  <c:v>98.3</c:v>
                </c:pt>
                <c:pt idx="2">
                  <c:v>96.1</c:v>
                </c:pt>
                <c:pt idx="3">
                  <c:v>95</c:v>
                </c:pt>
                <c:pt idx="4">
                  <c:v>95.3</c:v>
                </c:pt>
              </c:numCache>
            </c:numRef>
          </c:val>
        </c:ser>
        <c:dLbls>
          <c:numFmt formatCode="0.0" sourceLinked="0"/>
          <c:txPr>
            <a:bodyPr/>
            <a:lstStyle/>
            <a:p>
              <a:pPr>
                <a:defRPr b="0" i="0" strike="noStrike" sz="1100" u="none">
                  <a:solidFill>
                    <a:srgbClr val="11111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11111"/>
                </a:solidFill>
                <a:latin typeface="Arial"/>
              </a:defRPr>
            </a:pPr>
            <a:endParaRPr lang="en-US"/>
          </a:p>
        </c:txPr>
        <c:crossAx val="2094734552"/>
        <c:crosses val="autoZero"/>
        <c:auto val="1"/>
        <c:lblAlgn val="ctr"/>
        <c:noMultiLvlLbl val="1"/>
      </c:catAx>
      <c:valAx>
        <c:axId val="2094734552"/>
        <c:scaling>
          <c:orientation val="minMax"/>
          <c:max val="100"/>
          <c:min val="60"/>
        </c:scaling>
        <c:delete val="0"/>
        <c:axPos val="l"/>
        <c:majorGridlines>
          <c:spPr>
            <a:ln w="6350" cap="flat">
              <a:solidFill>
                <a:srgbClr val="E5E5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One-liner: PLUMB is a floor-pricing partner for ad ops. A statistics layer proposes a move, an agent can refuse when the data cannot be trusted, and a human makes the call. All numbers in this deck are from a synthetic sample dataset because my real data is confidential.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Floors are nudged placement by placement on a belief about fill rate. Good moves are never made because evidence is unclear; bad moves are made because a one-day swing was read as a trend. The 78.7% and 16.3% come from the modelled manual arm in the sample world, so it shows direction, not a measured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never returns a price. It returns a plan for how much to trust the data: hold, exclude the last day, change the window, adjust direction. The price always comes from the statistics layer, and the decision always belongs to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floor desk: pick a cell, see the recommendation, the evidence and any refusal reason, then accept or edit. The web app is FastAPI plus SQLite and runs with Docker or Render. The walkthrough video is in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slide can be checked in the repo: the sample data, the evaluation, the pilot design tests and the CI run. The next step is a matched-cell pilot with real ops colleagues.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Tuned on one sample world, frozen, scored on a fresh one. Intervals are cluster bootstraps over cells. The manual arm is my model of manual pricing, so the direction is reliable and the size of the gap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step was driven by a result, not a plan. The refusal gate and the harm metric were both wrong in v1 and the evaluation showed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the team slide: the person who understands the auction mechanics also built the statistics, the agent and the app, so nothing was lost in handoff.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pic>
        <p:nvPicPr>
          <p:cNvPr id="2" name="Image 0" descr="logo_w.png">    </p:cNvPr>
          <p:cNvPicPr>
            <a:picLocks noChangeAspect="1"/>
          </p:cNvPicPr>
          <p:nvPr/>
        </p:nvPicPr>
        <p:blipFill>
          <a:blip r:embed="rId1"/>
          <a:stretch>
            <a:fillRect/>
          </a:stretch>
        </p:blipFill>
        <p:spPr>
          <a:xfrm>
            <a:off x="640080" y="640080"/>
            <a:ext cx="324964" cy="384048"/>
          </a:xfrm>
          <a:prstGeom prst="rect">
            <a:avLst/>
          </a:prstGeom>
        </p:spPr>
      </p:pic>
      <p:sp>
        <p:nvSpPr>
          <p:cNvPr id="3" name="Text 0"/>
          <p:cNvSpPr txBox="1"/>
          <p:nvPr/>
        </p:nvSpPr>
        <p:spPr>
          <a:xfrm>
            <a:off x="1093060" y="621792"/>
            <a:ext cx="1792224" cy="420624"/>
          </a:xfrm>
          <a:prstGeom prst="rect">
            <a:avLst/>
          </a:prstGeom>
          <a:noFill/>
          <a:ln/>
        </p:spPr>
        <p:txBody>
          <a:bodyPr wrap="square" lIns="0" tIns="0" rIns="0" bIns="0" rtlCol="0" anchor="ctr"/>
          <a:lstStyle/>
          <a:p>
            <a:pPr indent="0" marL="0">
              <a:buNone/>
            </a:pPr>
            <a:r>
              <a:rPr lang="en-US" sz="1680" b="1" spc="400" kern="0" dirty="0">
                <a:solidFill>
                  <a:srgbClr val="FFFFFF"/>
                </a:solidFill>
                <a:latin typeface="Calibri" pitchFamily="34" charset="0"/>
                <a:ea typeface="Calibri" pitchFamily="34" charset="-122"/>
                <a:cs typeface="Calibri" pitchFamily="34" charset="-120"/>
              </a:rPr>
              <a:t>PLUMB</a:t>
            </a:r>
            <a:endParaRPr lang="en-US" sz="1680" dirty="0"/>
          </a:p>
        </p:txBody>
      </p:sp>
      <p:sp>
        <p:nvSpPr>
          <p:cNvPr id="4" name="Text 1"/>
          <p:cNvSpPr txBox="1"/>
          <p:nvPr/>
        </p:nvSpPr>
        <p:spPr>
          <a:xfrm>
            <a:off x="640080" y="1234440"/>
            <a:ext cx="7863840" cy="1280160"/>
          </a:xfrm>
          <a:prstGeom prst="rect">
            <a:avLst/>
          </a:prstGeom>
          <a:noFill/>
          <a:ln/>
        </p:spPr>
        <p:txBody>
          <a:bodyPr wrap="square" lIns="0" tIns="0" rIns="0" bIns="0" rtlCol="0" anchor="t"/>
          <a:lstStyle/>
          <a:p>
            <a:pPr indent="0" marL="0">
              <a:buNone/>
            </a:pPr>
            <a:r>
              <a:rPr lang="en-US" sz="3600" b="1" dirty="0">
                <a:solidFill>
                  <a:srgbClr val="FFFFFF"/>
                </a:solidFill>
                <a:latin typeface="Georgia" pitchFamily="34" charset="0"/>
                <a:ea typeface="Georgia" pitchFamily="34" charset="-122"/>
                <a:cs typeface="Georgia" pitchFamily="34" charset="-120"/>
              </a:rPr>
              <a:t>Floor pricing,</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with a human in charge</a:t>
            </a:r>
            <a:endParaRPr lang="en-US" sz="3600" dirty="0"/>
          </a:p>
        </p:txBody>
      </p:sp>
      <p:sp>
        <p:nvSpPr>
          <p:cNvPr id="5" name="Shape 2"/>
          <p:cNvSpPr/>
          <p:nvPr/>
        </p:nvSpPr>
        <p:spPr>
          <a:xfrm>
            <a:off x="640080" y="2743200"/>
            <a:ext cx="1097280" cy="54864"/>
          </a:xfrm>
          <a:prstGeom prst="rect">
            <a:avLst/>
          </a:prstGeom>
          <a:solidFill>
            <a:srgbClr val="F26B1D"/>
          </a:solidFill>
          <a:ln w="12700">
            <a:solidFill>
              <a:srgbClr val="F26B1D"/>
            </a:solidFill>
            <a:prstDash val="solid"/>
          </a:ln>
        </p:spPr>
      </p:sp>
      <p:sp>
        <p:nvSpPr>
          <p:cNvPr id="6" name="Text 3"/>
          <p:cNvSpPr txBox="1"/>
          <p:nvPr/>
        </p:nvSpPr>
        <p:spPr>
          <a:xfrm>
            <a:off x="640080" y="2971800"/>
            <a:ext cx="6949440" cy="91440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A floor-pricing partner for ad ops. Statistics propose, an agent can refuse, a human decides.</a:t>
            </a:r>
            <a:endParaRPr lang="en-US" sz="1800" dirty="0"/>
          </a:p>
        </p:txBody>
      </p:sp>
      <p:sp>
        <p:nvSpPr>
          <p:cNvPr id="7" name="Text 4"/>
          <p:cNvSpPr txBox="1"/>
          <p:nvPr/>
        </p:nvSpPr>
        <p:spPr>
          <a:xfrm>
            <a:off x="640080" y="4297680"/>
            <a:ext cx="7863840" cy="365760"/>
          </a:xfrm>
          <a:prstGeom prst="rect">
            <a:avLst/>
          </a:prstGeom>
          <a:noFill/>
          <a:ln/>
        </p:spPr>
        <p:txBody>
          <a:bodyPr wrap="square" lIns="0" tIns="0" rIns="0" bIns="0" rtlCol="0" anchor="ctr"/>
          <a:lstStyle/>
          <a:p>
            <a:pPr indent="0" marL="0">
              <a:buNone/>
            </a:pPr>
            <a:r>
              <a:rPr lang="en-US" sz="1200" dirty="0">
                <a:solidFill>
                  <a:srgbClr val="BDBDBD"/>
                </a:solidFill>
                <a:latin typeface="Calibri" pitchFamily="34" charset="0"/>
                <a:ea typeface="Calibri" pitchFamily="34" charset="-122"/>
                <a:cs typeface="Calibri" pitchFamily="34" charset="-120"/>
              </a:rPr>
              <a:t>J John Britto  |  Head of Product  |  100xEngineers Cohort 7 capstone  |  Solo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logo_k.png">    </p:cNvPr>
          <p:cNvPicPr>
            <a:picLocks noChangeAspect="1"/>
          </p:cNvPicPr>
          <p:nvPr/>
        </p:nvPicPr>
        <p:blipFill>
          <a:blip r:embed="rId1"/>
          <a:stretch>
            <a:fillRect/>
          </a:stretch>
        </p:blipFill>
        <p:spPr>
          <a:xfrm>
            <a:off x="7726680" y="365760"/>
            <a:ext cx="208905" cy="246888"/>
          </a:xfrm>
          <a:prstGeom prst="rect">
            <a:avLst/>
          </a:prstGeom>
        </p:spPr>
      </p:pic>
      <p:sp>
        <p:nvSpPr>
          <p:cNvPr id="3" name="Text 0"/>
          <p:cNvSpPr txBox="1"/>
          <p:nvPr/>
        </p:nvSpPr>
        <p:spPr>
          <a:xfrm>
            <a:off x="8017881" y="347472"/>
            <a:ext cx="1152144" cy="283464"/>
          </a:xfrm>
          <a:prstGeom prst="rect">
            <a:avLst/>
          </a:prstGeom>
          <a:noFill/>
          <a:ln/>
        </p:spPr>
        <p:txBody>
          <a:bodyPr wrap="square" lIns="0" tIns="0" rIns="0" bIns="0" rtlCol="0" anchor="ctr"/>
          <a:lstStyle/>
          <a:p>
            <a:pPr indent="0" marL="0">
              <a:buNone/>
            </a:pPr>
            <a:r>
              <a:rPr lang="en-US" sz="1080" b="1" spc="400" kern="0" dirty="0">
                <a:solidFill>
                  <a:srgbClr val="111111"/>
                </a:solidFill>
                <a:latin typeface="Calibri" pitchFamily="34" charset="0"/>
                <a:ea typeface="Calibri" pitchFamily="34" charset="-122"/>
                <a:cs typeface="Calibri" pitchFamily="34" charset="-120"/>
              </a:rPr>
              <a:t>PLUMB</a:t>
            </a:r>
            <a:endParaRPr lang="en-US" sz="1080" dirty="0"/>
          </a:p>
        </p:txBody>
      </p:sp>
      <p:sp>
        <p:nvSpPr>
          <p:cNvPr id="4" name="Text 1"/>
          <p:cNvSpPr txBox="1"/>
          <p:nvPr/>
        </p:nvSpPr>
        <p:spPr>
          <a:xfrm>
            <a:off x="548640" y="365760"/>
            <a:ext cx="5486400" cy="274320"/>
          </a:xfrm>
          <a:prstGeom prst="rect">
            <a:avLst/>
          </a:prstGeom>
          <a:noFill/>
          <a:ln/>
        </p:spPr>
        <p:txBody>
          <a:bodyPr wrap="square" lIns="0" tIns="0" rIns="0" bIns="0" rtlCol="0" anchor="ctr"/>
          <a:lstStyle/>
          <a:p>
            <a:pPr indent="0" marL="0">
              <a:buNone/>
            </a:pPr>
            <a:r>
              <a:rPr lang="en-US" sz="1100" b="1" spc="300" kern="0" dirty="0">
                <a:solidFill>
                  <a:srgbClr val="F26B1D"/>
                </a:solidFill>
                <a:latin typeface="Calibri" pitchFamily="34" charset="0"/>
                <a:ea typeface="Calibri" pitchFamily="34" charset="-122"/>
                <a:cs typeface="Calibri" pitchFamily="34" charset="-120"/>
              </a:rPr>
              <a:t>PROBLEM</a:t>
            </a:r>
            <a:endParaRPr lang="en-US" sz="1100" dirty="0"/>
          </a:p>
        </p:txBody>
      </p:sp>
      <p:sp>
        <p:nvSpPr>
          <p:cNvPr id="5" name="Text 2"/>
          <p:cNvSpPr txBox="1"/>
          <p:nvPr/>
        </p:nvSpPr>
        <p:spPr>
          <a:xfrm>
            <a:off x="548640" y="658368"/>
            <a:ext cx="8046720" cy="822960"/>
          </a:xfrm>
          <a:prstGeom prst="rect">
            <a:avLst/>
          </a:prstGeom>
          <a:noFill/>
          <a:ln/>
        </p:spPr>
        <p:txBody>
          <a:bodyPr wrap="square" lIns="0" tIns="0" rIns="0" bIns="0" rtlCol="0" anchor="t"/>
          <a:lstStyle/>
          <a:p>
            <a:pPr indent="0" marL="0">
              <a:buNone/>
            </a:pPr>
            <a:r>
              <a:rPr lang="en-US" sz="2600" b="1" dirty="0">
                <a:solidFill>
                  <a:srgbClr val="111111"/>
                </a:solidFill>
                <a:latin typeface="Georgia" pitchFamily="34" charset="0"/>
                <a:ea typeface="Georgia" pitchFamily="34" charset="-122"/>
                <a:cs typeface="Georgia" pitchFamily="34" charset="-120"/>
              </a:rPr>
              <a:t>Price floors are set by hand, on a belief, with no way to see the curve</a:t>
            </a:r>
            <a:endParaRPr lang="en-US" sz="2600" dirty="0"/>
          </a:p>
        </p:txBody>
      </p:sp>
      <p:sp>
        <p:nvSpPr>
          <p:cNvPr id="6" name="Shape 3"/>
          <p:cNvSpPr/>
          <p:nvPr/>
        </p:nvSpPr>
        <p:spPr>
          <a:xfrm>
            <a:off x="548640" y="1737360"/>
            <a:ext cx="2606040" cy="1737360"/>
          </a:xfrm>
          <a:prstGeom prst="rect">
            <a:avLst/>
          </a:prstGeom>
          <a:solidFill>
            <a:srgbClr val="F6F3EF"/>
          </a:solidFill>
          <a:ln w="12700">
            <a:solidFill>
              <a:srgbClr val="F6F3EF"/>
            </a:solidFill>
            <a:prstDash val="solid"/>
          </a:ln>
        </p:spPr>
      </p:sp>
      <p:sp>
        <p:nvSpPr>
          <p:cNvPr id="7" name="Text 4"/>
          <p:cNvSpPr txBox="1"/>
          <p:nvPr/>
        </p:nvSpPr>
        <p:spPr>
          <a:xfrm>
            <a:off x="731520" y="1874520"/>
            <a:ext cx="2240280" cy="411480"/>
          </a:xfrm>
          <a:prstGeom prst="rect">
            <a:avLst/>
          </a:prstGeom>
          <a:noFill/>
          <a:ln/>
        </p:spPr>
        <p:txBody>
          <a:bodyPr wrap="square" lIns="0" tIns="0" rIns="0" bIns="0" rtlCol="0" anchor="ctr"/>
          <a:lstStyle/>
          <a:p>
            <a:pPr indent="0" marL="0">
              <a:buNone/>
            </a:pPr>
            <a:r>
              <a:rPr lang="en-US" sz="2000" b="1" dirty="0">
                <a:solidFill>
                  <a:srgbClr val="F26B1D"/>
                </a:solidFill>
                <a:latin typeface="Georgia" pitchFamily="34" charset="0"/>
                <a:ea typeface="Georgia" pitchFamily="34" charset="-122"/>
                <a:cs typeface="Georgia" pitchFamily="34" charset="-120"/>
              </a:rPr>
              <a:t>Too low</a:t>
            </a:r>
            <a:endParaRPr lang="en-US" sz="2000" dirty="0"/>
          </a:p>
        </p:txBody>
      </p:sp>
      <p:sp>
        <p:nvSpPr>
          <p:cNvPr id="8" name="Text 5"/>
          <p:cNvSpPr txBox="1"/>
          <p:nvPr/>
        </p:nvSpPr>
        <p:spPr>
          <a:xfrm>
            <a:off x="731520" y="2331720"/>
            <a:ext cx="2240280" cy="1005840"/>
          </a:xfrm>
          <a:prstGeom prst="rect">
            <a:avLst/>
          </a:prstGeom>
          <a:noFill/>
          <a:ln/>
        </p:spPr>
        <p:txBody>
          <a:bodyPr wrap="square" lIns="0" tIns="0" rIns="0" bIns="0" rtlCol="0" anchor="t"/>
          <a:lstStyle/>
          <a:p>
            <a:pPr indent="0" marL="0">
              <a:buNone/>
            </a:pPr>
            <a:r>
              <a:rPr lang="en-US" sz="1500" dirty="0">
                <a:solidFill>
                  <a:srgbClr val="111111"/>
                </a:solidFill>
                <a:latin typeface="Calibri" pitchFamily="34" charset="0"/>
                <a:ea typeface="Calibri" pitchFamily="34" charset="-122"/>
                <a:cs typeface="Calibri" pitchFamily="34" charset="-120"/>
              </a:rPr>
              <a:t>Money left on the table in every auction</a:t>
            </a:r>
            <a:endParaRPr lang="en-US" sz="1500" dirty="0"/>
          </a:p>
        </p:txBody>
      </p:sp>
      <p:sp>
        <p:nvSpPr>
          <p:cNvPr id="9" name="Shape 6"/>
          <p:cNvSpPr/>
          <p:nvPr/>
        </p:nvSpPr>
        <p:spPr>
          <a:xfrm>
            <a:off x="3337560" y="1737360"/>
            <a:ext cx="2606040" cy="1737360"/>
          </a:xfrm>
          <a:prstGeom prst="rect">
            <a:avLst/>
          </a:prstGeom>
          <a:solidFill>
            <a:srgbClr val="F6F3EF"/>
          </a:solidFill>
          <a:ln w="12700">
            <a:solidFill>
              <a:srgbClr val="F6F3EF"/>
            </a:solidFill>
            <a:prstDash val="solid"/>
          </a:ln>
        </p:spPr>
      </p:sp>
      <p:sp>
        <p:nvSpPr>
          <p:cNvPr id="10" name="Text 7"/>
          <p:cNvSpPr txBox="1"/>
          <p:nvPr/>
        </p:nvSpPr>
        <p:spPr>
          <a:xfrm>
            <a:off x="3520440" y="1874520"/>
            <a:ext cx="2240280" cy="411480"/>
          </a:xfrm>
          <a:prstGeom prst="rect">
            <a:avLst/>
          </a:prstGeom>
          <a:noFill/>
          <a:ln/>
        </p:spPr>
        <p:txBody>
          <a:bodyPr wrap="square" lIns="0" tIns="0" rIns="0" bIns="0" rtlCol="0" anchor="ctr"/>
          <a:lstStyle/>
          <a:p>
            <a:pPr indent="0" marL="0">
              <a:buNone/>
            </a:pPr>
            <a:r>
              <a:rPr lang="en-US" sz="2000" b="1" dirty="0">
                <a:solidFill>
                  <a:srgbClr val="F26B1D"/>
                </a:solidFill>
                <a:latin typeface="Georgia" pitchFamily="34" charset="0"/>
                <a:ea typeface="Georgia" pitchFamily="34" charset="-122"/>
                <a:cs typeface="Georgia" pitchFamily="34" charset="-120"/>
              </a:rPr>
              <a:t>Too high</a:t>
            </a:r>
            <a:endParaRPr lang="en-US" sz="2000" dirty="0"/>
          </a:p>
        </p:txBody>
      </p:sp>
      <p:sp>
        <p:nvSpPr>
          <p:cNvPr id="11" name="Text 8"/>
          <p:cNvSpPr txBox="1"/>
          <p:nvPr/>
        </p:nvSpPr>
        <p:spPr>
          <a:xfrm>
            <a:off x="3520440" y="2331720"/>
            <a:ext cx="2240280" cy="1005840"/>
          </a:xfrm>
          <a:prstGeom prst="rect">
            <a:avLst/>
          </a:prstGeom>
          <a:noFill/>
          <a:ln/>
        </p:spPr>
        <p:txBody>
          <a:bodyPr wrap="square" lIns="0" tIns="0" rIns="0" bIns="0" rtlCol="0" anchor="t"/>
          <a:lstStyle/>
          <a:p>
            <a:pPr indent="0" marL="0">
              <a:buNone/>
            </a:pPr>
            <a:r>
              <a:rPr lang="en-US" sz="1500" dirty="0">
                <a:solidFill>
                  <a:srgbClr val="111111"/>
                </a:solidFill>
                <a:latin typeface="Calibri" pitchFamily="34" charset="0"/>
                <a:ea typeface="Calibri" pitchFamily="34" charset="-122"/>
                <a:cs typeface="Calibri" pitchFamily="34" charset="-120"/>
              </a:rPr>
              <a:t>Auctions go unfilled and revenue drops</a:t>
            </a:r>
            <a:endParaRPr lang="en-US" sz="1500" dirty="0"/>
          </a:p>
        </p:txBody>
      </p:sp>
      <p:sp>
        <p:nvSpPr>
          <p:cNvPr id="12" name="Shape 9"/>
          <p:cNvSpPr/>
          <p:nvPr/>
        </p:nvSpPr>
        <p:spPr>
          <a:xfrm>
            <a:off x="6126480" y="1737360"/>
            <a:ext cx="2606040" cy="1737360"/>
          </a:xfrm>
          <a:prstGeom prst="rect">
            <a:avLst/>
          </a:prstGeom>
          <a:solidFill>
            <a:srgbClr val="F6F3EF"/>
          </a:solidFill>
          <a:ln w="12700">
            <a:solidFill>
              <a:srgbClr val="F6F3EF"/>
            </a:solidFill>
            <a:prstDash val="solid"/>
          </a:ln>
        </p:spPr>
      </p:sp>
      <p:sp>
        <p:nvSpPr>
          <p:cNvPr id="13" name="Text 10"/>
          <p:cNvSpPr txBox="1"/>
          <p:nvPr/>
        </p:nvSpPr>
        <p:spPr>
          <a:xfrm>
            <a:off x="6309360" y="1874520"/>
            <a:ext cx="2240280" cy="411480"/>
          </a:xfrm>
          <a:prstGeom prst="rect">
            <a:avLst/>
          </a:prstGeom>
          <a:noFill/>
          <a:ln/>
        </p:spPr>
        <p:txBody>
          <a:bodyPr wrap="square" lIns="0" tIns="0" rIns="0" bIns="0" rtlCol="0" anchor="ctr"/>
          <a:lstStyle/>
          <a:p>
            <a:pPr indent="0" marL="0">
              <a:buNone/>
            </a:pPr>
            <a:r>
              <a:rPr lang="en-US" sz="2000" b="1" dirty="0">
                <a:solidFill>
                  <a:srgbClr val="F26B1D"/>
                </a:solidFill>
                <a:latin typeface="Georgia" pitchFamily="34" charset="0"/>
                <a:ea typeface="Georgia" pitchFamily="34" charset="-122"/>
                <a:cs typeface="Georgia" pitchFamily="34" charset="-120"/>
              </a:rPr>
              <a:t>No signal</a:t>
            </a:r>
            <a:endParaRPr lang="en-US" sz="2000" dirty="0"/>
          </a:p>
        </p:txBody>
      </p:sp>
      <p:sp>
        <p:nvSpPr>
          <p:cNvPr id="14" name="Text 11"/>
          <p:cNvSpPr txBox="1"/>
          <p:nvPr/>
        </p:nvSpPr>
        <p:spPr>
          <a:xfrm>
            <a:off x="6309360" y="2331720"/>
            <a:ext cx="2240280" cy="1005840"/>
          </a:xfrm>
          <a:prstGeom prst="rect">
            <a:avLst/>
          </a:prstGeom>
          <a:noFill/>
          <a:ln/>
        </p:spPr>
        <p:txBody>
          <a:bodyPr wrap="square" lIns="0" tIns="0" rIns="0" bIns="0" rtlCol="0" anchor="t"/>
          <a:lstStyle/>
          <a:p>
            <a:pPr indent="0" marL="0">
              <a:buNone/>
            </a:pPr>
            <a:r>
              <a:rPr lang="en-US" sz="1500" dirty="0">
                <a:solidFill>
                  <a:srgbClr val="111111"/>
                </a:solidFill>
                <a:latin typeface="Calibri" pitchFamily="34" charset="0"/>
                <a:ea typeface="Calibri" pitchFamily="34" charset="-122"/>
                <a:cs typeface="Calibri" pitchFamily="34" charset="-120"/>
              </a:rPr>
              <a:t>A bidder outage, demand surge or reporting glitch looks like a trend</a:t>
            </a:r>
            <a:endParaRPr lang="en-US" sz="1500" dirty="0"/>
          </a:p>
        </p:txBody>
      </p:sp>
      <p:sp>
        <p:nvSpPr>
          <p:cNvPr id="15" name="Text 12"/>
          <p:cNvSpPr txBox="1"/>
          <p:nvPr/>
        </p:nvSpPr>
        <p:spPr>
          <a:xfrm>
            <a:off x="548640" y="3840480"/>
            <a:ext cx="8046720" cy="731520"/>
          </a:xfrm>
          <a:prstGeom prst="rect">
            <a:avLst/>
          </a:prstGeom>
          <a:noFill/>
          <a:ln/>
        </p:spPr>
        <p:txBody>
          <a:bodyPr wrap="square" lIns="0" tIns="0" rIns="0" bIns="0" rtlCol="0" anchor="t"/>
          <a:lstStyle/>
          <a:p>
            <a:pPr indent="0" marL="0">
              <a:buNone/>
            </a:pPr>
            <a:r>
              <a:rPr lang="en-US" sz="1600" dirty="0">
                <a:solidFill>
                  <a:srgbClr val="111111"/>
                </a:solidFill>
                <a:latin typeface="Calibri" pitchFamily="34" charset="0"/>
                <a:ea typeface="Calibri" pitchFamily="34" charset="-122"/>
                <a:cs typeface="Calibri" pitchFamily="34" charset="-120"/>
              </a:rPr>
              <a:t>In sample data, modelled manual pricing captures 78.7% of the available revenue and makes a harmful move on 16.3% of decisions.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logo_k.png">    </p:cNvPr>
          <p:cNvPicPr>
            <a:picLocks noChangeAspect="1"/>
          </p:cNvPicPr>
          <p:nvPr/>
        </p:nvPicPr>
        <p:blipFill>
          <a:blip r:embed="rId1"/>
          <a:stretch>
            <a:fillRect/>
          </a:stretch>
        </p:blipFill>
        <p:spPr>
          <a:xfrm>
            <a:off x="7726680" y="365760"/>
            <a:ext cx="208905" cy="246888"/>
          </a:xfrm>
          <a:prstGeom prst="rect">
            <a:avLst/>
          </a:prstGeom>
        </p:spPr>
      </p:pic>
      <p:sp>
        <p:nvSpPr>
          <p:cNvPr id="3" name="Text 0"/>
          <p:cNvSpPr txBox="1"/>
          <p:nvPr/>
        </p:nvSpPr>
        <p:spPr>
          <a:xfrm>
            <a:off x="8017881" y="347472"/>
            <a:ext cx="1152144" cy="283464"/>
          </a:xfrm>
          <a:prstGeom prst="rect">
            <a:avLst/>
          </a:prstGeom>
          <a:noFill/>
          <a:ln/>
        </p:spPr>
        <p:txBody>
          <a:bodyPr wrap="square" lIns="0" tIns="0" rIns="0" bIns="0" rtlCol="0" anchor="ctr"/>
          <a:lstStyle/>
          <a:p>
            <a:pPr indent="0" marL="0">
              <a:buNone/>
            </a:pPr>
            <a:r>
              <a:rPr lang="en-US" sz="1080" b="1" spc="400" kern="0" dirty="0">
                <a:solidFill>
                  <a:srgbClr val="111111"/>
                </a:solidFill>
                <a:latin typeface="Calibri" pitchFamily="34" charset="0"/>
                <a:ea typeface="Calibri" pitchFamily="34" charset="-122"/>
                <a:cs typeface="Calibri" pitchFamily="34" charset="-120"/>
              </a:rPr>
              <a:t>PLUMB</a:t>
            </a:r>
            <a:endParaRPr lang="en-US" sz="1080" dirty="0"/>
          </a:p>
        </p:txBody>
      </p:sp>
      <p:sp>
        <p:nvSpPr>
          <p:cNvPr id="4" name="Text 1"/>
          <p:cNvSpPr txBox="1"/>
          <p:nvPr/>
        </p:nvSpPr>
        <p:spPr>
          <a:xfrm>
            <a:off x="548640" y="365760"/>
            <a:ext cx="5486400" cy="274320"/>
          </a:xfrm>
          <a:prstGeom prst="rect">
            <a:avLst/>
          </a:prstGeom>
          <a:noFill/>
          <a:ln/>
        </p:spPr>
        <p:txBody>
          <a:bodyPr wrap="square" lIns="0" tIns="0" rIns="0" bIns="0" rtlCol="0" anchor="ctr"/>
          <a:lstStyle/>
          <a:p>
            <a:pPr indent="0" marL="0">
              <a:buNone/>
            </a:pPr>
            <a:r>
              <a:rPr lang="en-US" sz="1100" b="1" spc="300" kern="0" dirty="0">
                <a:solidFill>
                  <a:srgbClr val="F26B1D"/>
                </a:solidFill>
                <a:latin typeface="Calibri" pitchFamily="34" charset="0"/>
                <a:ea typeface="Calibri" pitchFamily="34" charset="-122"/>
                <a:cs typeface="Calibri" pitchFamily="34" charset="-120"/>
              </a:rPr>
              <a:t>SOLUTION</a:t>
            </a:r>
            <a:endParaRPr lang="en-US" sz="1100" dirty="0"/>
          </a:p>
        </p:txBody>
      </p:sp>
      <p:sp>
        <p:nvSpPr>
          <p:cNvPr id="5" name="Text 2"/>
          <p:cNvSpPr txBox="1"/>
          <p:nvPr/>
        </p:nvSpPr>
        <p:spPr>
          <a:xfrm>
            <a:off x="548640" y="658368"/>
            <a:ext cx="8046720" cy="822960"/>
          </a:xfrm>
          <a:prstGeom prst="rect">
            <a:avLst/>
          </a:prstGeom>
          <a:noFill/>
          <a:ln/>
        </p:spPr>
        <p:txBody>
          <a:bodyPr wrap="square" lIns="0" tIns="0" rIns="0" bIns="0" rtlCol="0" anchor="t"/>
          <a:lstStyle/>
          <a:p>
            <a:pPr indent="0" marL="0">
              <a:buNone/>
            </a:pPr>
            <a:r>
              <a:rPr lang="en-US" sz="2600" b="1" dirty="0">
                <a:solidFill>
                  <a:srgbClr val="111111"/>
                </a:solidFill>
                <a:latin typeface="Georgia" pitchFamily="34" charset="0"/>
                <a:ea typeface="Georgia" pitchFamily="34" charset="-122"/>
                <a:cs typeface="Georgia" pitchFamily="34" charset="-120"/>
              </a:rPr>
              <a:t>Three parts, each doing only what it is good at</a:t>
            </a:r>
            <a:endParaRPr lang="en-US" sz="2600" dirty="0"/>
          </a:p>
        </p:txBody>
      </p:sp>
      <p:sp>
        <p:nvSpPr>
          <p:cNvPr id="6" name="Shape 3"/>
          <p:cNvSpPr/>
          <p:nvPr/>
        </p:nvSpPr>
        <p:spPr>
          <a:xfrm>
            <a:off x="548640" y="1783080"/>
            <a:ext cx="548640" cy="548640"/>
          </a:xfrm>
          <a:prstGeom prst="ellipse">
            <a:avLst/>
          </a:prstGeom>
          <a:solidFill>
            <a:srgbClr val="F26B1D"/>
          </a:solidFill>
          <a:ln w="12700">
            <a:solidFill>
              <a:srgbClr val="F26B1D"/>
            </a:solidFill>
            <a:prstDash val="solid"/>
          </a:ln>
        </p:spPr>
      </p:sp>
      <p:sp>
        <p:nvSpPr>
          <p:cNvPr id="7" name="Text 4"/>
          <p:cNvSpPr txBox="1"/>
          <p:nvPr/>
        </p:nvSpPr>
        <p:spPr>
          <a:xfrm>
            <a:off x="548640" y="17830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8" name="Text 5"/>
          <p:cNvSpPr txBox="1"/>
          <p:nvPr/>
        </p:nvSpPr>
        <p:spPr>
          <a:xfrm>
            <a:off x="1325880" y="1691640"/>
            <a:ext cx="7223760" cy="320040"/>
          </a:xfrm>
          <a:prstGeom prst="rect">
            <a:avLst/>
          </a:prstGeom>
          <a:noFill/>
          <a:ln/>
        </p:spPr>
        <p:txBody>
          <a:bodyPr wrap="square" lIns="0" tIns="0" rIns="0" bIns="0" rtlCol="0" anchor="ctr"/>
          <a:lstStyle/>
          <a:p>
            <a:pPr indent="0" marL="0">
              <a:buNone/>
            </a:pPr>
            <a:r>
              <a:rPr lang="en-US" sz="1700" b="1" dirty="0">
                <a:solidFill>
                  <a:srgbClr val="111111"/>
                </a:solidFill>
                <a:latin typeface="Georgia" pitchFamily="34" charset="0"/>
                <a:ea typeface="Georgia" pitchFamily="34" charset="-122"/>
                <a:cs typeface="Georgia" pitchFamily="34" charset="-120"/>
              </a:rPr>
              <a:t>Statistics layer</a:t>
            </a:r>
            <a:endParaRPr lang="en-US" sz="1700" dirty="0"/>
          </a:p>
        </p:txBody>
      </p:sp>
      <p:sp>
        <p:nvSpPr>
          <p:cNvPr id="9" name="Text 6"/>
          <p:cNvSpPr txBox="1"/>
          <p:nvPr/>
        </p:nvSpPr>
        <p:spPr>
          <a:xfrm>
            <a:off x="1325880" y="2029968"/>
            <a:ext cx="7223760" cy="548640"/>
          </a:xfrm>
          <a:prstGeom prst="rect">
            <a:avLst/>
          </a:prstGeom>
          <a:noFill/>
          <a:ln/>
        </p:spPr>
        <p:txBody>
          <a:bodyPr wrap="square" lIns="0" tIns="0" rIns="0" bIns="0" rtlCol="0" anchor="t"/>
          <a:lstStyle/>
          <a:p>
            <a:pPr indent="0" marL="0">
              <a:buNone/>
            </a:pPr>
            <a:r>
              <a:rPr lang="en-US" sz="1350" dirty="0">
                <a:solidFill>
                  <a:srgbClr val="6B6B6B"/>
                </a:solidFill>
                <a:latin typeface="Calibri" pitchFamily="34" charset="0"/>
                <a:ea typeface="Calibri" pitchFamily="34" charset="-122"/>
                <a:cs typeface="Calibri" pitchFamily="34" charset="-120"/>
              </a:rPr>
              <a:t>Fits revenue per 1k requests against log floor over 21 days. Step is capped and shrinks when confidence is low.</a:t>
            </a:r>
            <a:endParaRPr lang="en-US" sz="1350" dirty="0"/>
          </a:p>
        </p:txBody>
      </p:sp>
      <p:sp>
        <p:nvSpPr>
          <p:cNvPr id="10" name="Shape 7"/>
          <p:cNvSpPr/>
          <p:nvPr/>
        </p:nvSpPr>
        <p:spPr>
          <a:xfrm>
            <a:off x="548640" y="2788920"/>
            <a:ext cx="548640" cy="548640"/>
          </a:xfrm>
          <a:prstGeom prst="ellipse">
            <a:avLst/>
          </a:prstGeom>
          <a:solidFill>
            <a:srgbClr val="F26B1D"/>
          </a:solidFill>
          <a:ln w="12700">
            <a:solidFill>
              <a:srgbClr val="F26B1D"/>
            </a:solidFill>
            <a:prstDash val="solid"/>
          </a:ln>
        </p:spPr>
      </p:sp>
      <p:sp>
        <p:nvSpPr>
          <p:cNvPr id="11" name="Text 8"/>
          <p:cNvSpPr txBox="1"/>
          <p:nvPr/>
        </p:nvSpPr>
        <p:spPr>
          <a:xfrm>
            <a:off x="548640" y="27889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2" name="Text 9"/>
          <p:cNvSpPr txBox="1"/>
          <p:nvPr/>
        </p:nvSpPr>
        <p:spPr>
          <a:xfrm>
            <a:off x="1325880" y="2697480"/>
            <a:ext cx="7223760" cy="320040"/>
          </a:xfrm>
          <a:prstGeom prst="rect">
            <a:avLst/>
          </a:prstGeom>
          <a:noFill/>
          <a:ln/>
        </p:spPr>
        <p:txBody>
          <a:bodyPr wrap="square" lIns="0" tIns="0" rIns="0" bIns="0" rtlCol="0" anchor="ctr"/>
          <a:lstStyle/>
          <a:p>
            <a:pPr indent="0" marL="0">
              <a:buNone/>
            </a:pPr>
            <a:r>
              <a:rPr lang="en-US" sz="1700" b="1" dirty="0">
                <a:solidFill>
                  <a:srgbClr val="111111"/>
                </a:solidFill>
                <a:latin typeface="Georgia" pitchFamily="34" charset="0"/>
                <a:ea typeface="Georgia" pitchFamily="34" charset="-122"/>
                <a:cs typeface="Georgia" pitchFamily="34" charset="-120"/>
              </a:rPr>
              <a:t>Agent that can refuse</a:t>
            </a:r>
            <a:endParaRPr lang="en-US" sz="1700" dirty="0"/>
          </a:p>
        </p:txBody>
      </p:sp>
      <p:sp>
        <p:nvSpPr>
          <p:cNvPr id="13" name="Text 10"/>
          <p:cNvSpPr txBox="1"/>
          <p:nvPr/>
        </p:nvSpPr>
        <p:spPr>
          <a:xfrm>
            <a:off x="1325880" y="3035808"/>
            <a:ext cx="7223760" cy="548640"/>
          </a:xfrm>
          <a:prstGeom prst="rect">
            <a:avLst/>
          </a:prstGeom>
          <a:noFill/>
          <a:ln/>
        </p:spPr>
        <p:txBody>
          <a:bodyPr wrap="square" lIns="0" tIns="0" rIns="0" bIns="0" rtlCol="0" anchor="t"/>
          <a:lstStyle/>
          <a:p>
            <a:pPr indent="0" marL="0">
              <a:buNone/>
            </a:pPr>
            <a:r>
              <a:rPr lang="en-US" sz="1350" dirty="0">
                <a:solidFill>
                  <a:srgbClr val="6B6B6B"/>
                </a:solidFill>
                <a:latin typeface="Calibri" pitchFamily="34" charset="0"/>
                <a:ea typeface="Calibri" pitchFamily="34" charset="-122"/>
                <a:cs typeface="Calibri" pitchFamily="34" charset="-120"/>
              </a:rPr>
              <a:t>Reads ops notes and data-quality signals. Returns a trust plan, never a price. Refuses on thin traffic, flat floors, outlier days.</a:t>
            </a:r>
            <a:endParaRPr lang="en-US" sz="1350" dirty="0"/>
          </a:p>
        </p:txBody>
      </p:sp>
      <p:sp>
        <p:nvSpPr>
          <p:cNvPr id="14" name="Shape 11"/>
          <p:cNvSpPr/>
          <p:nvPr/>
        </p:nvSpPr>
        <p:spPr>
          <a:xfrm>
            <a:off x="548640" y="3794760"/>
            <a:ext cx="548640" cy="548640"/>
          </a:xfrm>
          <a:prstGeom prst="ellipse">
            <a:avLst/>
          </a:prstGeom>
          <a:solidFill>
            <a:srgbClr val="F26B1D"/>
          </a:solidFill>
          <a:ln w="12700">
            <a:solidFill>
              <a:srgbClr val="F26B1D"/>
            </a:solidFill>
            <a:prstDash val="solid"/>
          </a:ln>
        </p:spPr>
      </p:sp>
      <p:sp>
        <p:nvSpPr>
          <p:cNvPr id="15" name="Text 12"/>
          <p:cNvSpPr txBox="1"/>
          <p:nvPr/>
        </p:nvSpPr>
        <p:spPr>
          <a:xfrm>
            <a:off x="548640" y="37947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16" name="Text 13"/>
          <p:cNvSpPr txBox="1"/>
          <p:nvPr/>
        </p:nvSpPr>
        <p:spPr>
          <a:xfrm>
            <a:off x="1325880" y="3703320"/>
            <a:ext cx="7223760" cy="320040"/>
          </a:xfrm>
          <a:prstGeom prst="rect">
            <a:avLst/>
          </a:prstGeom>
          <a:noFill/>
          <a:ln/>
        </p:spPr>
        <p:txBody>
          <a:bodyPr wrap="square" lIns="0" tIns="0" rIns="0" bIns="0" rtlCol="0" anchor="ctr"/>
          <a:lstStyle/>
          <a:p>
            <a:pPr indent="0" marL="0">
              <a:buNone/>
            </a:pPr>
            <a:r>
              <a:rPr lang="en-US" sz="1700" b="1" dirty="0">
                <a:solidFill>
                  <a:srgbClr val="111111"/>
                </a:solidFill>
                <a:latin typeface="Georgia" pitchFamily="34" charset="0"/>
                <a:ea typeface="Georgia" pitchFamily="34" charset="-122"/>
                <a:cs typeface="Georgia" pitchFamily="34" charset="-120"/>
              </a:rPr>
              <a:t>Human decides</a:t>
            </a:r>
            <a:endParaRPr lang="en-US" sz="1700" dirty="0"/>
          </a:p>
        </p:txBody>
      </p:sp>
      <p:sp>
        <p:nvSpPr>
          <p:cNvPr id="17" name="Text 14"/>
          <p:cNvSpPr txBox="1"/>
          <p:nvPr/>
        </p:nvSpPr>
        <p:spPr>
          <a:xfrm>
            <a:off x="1325880" y="4041648"/>
            <a:ext cx="7223760" cy="548640"/>
          </a:xfrm>
          <a:prstGeom prst="rect">
            <a:avLst/>
          </a:prstGeom>
          <a:noFill/>
          <a:ln/>
        </p:spPr>
        <p:txBody>
          <a:bodyPr wrap="square" lIns="0" tIns="0" rIns="0" bIns="0" rtlCol="0" anchor="t"/>
          <a:lstStyle/>
          <a:p>
            <a:pPr indent="0" marL="0">
              <a:buNone/>
            </a:pPr>
            <a:r>
              <a:rPr lang="en-US" sz="1350" dirty="0">
                <a:solidFill>
                  <a:srgbClr val="6B6B6B"/>
                </a:solidFill>
                <a:latin typeface="Calibri" pitchFamily="34" charset="0"/>
                <a:ea typeface="Calibri" pitchFamily="34" charset="-122"/>
                <a:cs typeface="Calibri" pitchFamily="34" charset="-120"/>
              </a:rPr>
              <a:t>Every recommendation sits in a queue with its evidence. Ops accepts, edits or rejects, and the reason is logged.</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logo_k.png">    </p:cNvPr>
          <p:cNvPicPr>
            <a:picLocks noChangeAspect="1"/>
          </p:cNvPicPr>
          <p:nvPr/>
        </p:nvPicPr>
        <p:blipFill>
          <a:blip r:embed="rId1"/>
          <a:stretch>
            <a:fillRect/>
          </a:stretch>
        </p:blipFill>
        <p:spPr>
          <a:xfrm>
            <a:off x="7726680" y="365760"/>
            <a:ext cx="208905" cy="246888"/>
          </a:xfrm>
          <a:prstGeom prst="rect">
            <a:avLst/>
          </a:prstGeom>
        </p:spPr>
      </p:pic>
      <p:sp>
        <p:nvSpPr>
          <p:cNvPr id="3" name="Text 0"/>
          <p:cNvSpPr txBox="1"/>
          <p:nvPr/>
        </p:nvSpPr>
        <p:spPr>
          <a:xfrm>
            <a:off x="8017881" y="347472"/>
            <a:ext cx="1152144" cy="283464"/>
          </a:xfrm>
          <a:prstGeom prst="rect">
            <a:avLst/>
          </a:prstGeom>
          <a:noFill/>
          <a:ln/>
        </p:spPr>
        <p:txBody>
          <a:bodyPr wrap="square" lIns="0" tIns="0" rIns="0" bIns="0" rtlCol="0" anchor="ctr"/>
          <a:lstStyle/>
          <a:p>
            <a:pPr indent="0" marL="0">
              <a:buNone/>
            </a:pPr>
            <a:r>
              <a:rPr lang="en-US" sz="1080" b="1" spc="400" kern="0" dirty="0">
                <a:solidFill>
                  <a:srgbClr val="111111"/>
                </a:solidFill>
                <a:latin typeface="Calibri" pitchFamily="34" charset="0"/>
                <a:ea typeface="Calibri" pitchFamily="34" charset="-122"/>
                <a:cs typeface="Calibri" pitchFamily="34" charset="-120"/>
              </a:rPr>
              <a:t>PLUMB</a:t>
            </a:r>
            <a:endParaRPr lang="en-US" sz="1080" dirty="0"/>
          </a:p>
        </p:txBody>
      </p:sp>
      <p:sp>
        <p:nvSpPr>
          <p:cNvPr id="4" name="Text 1"/>
          <p:cNvSpPr txBox="1"/>
          <p:nvPr/>
        </p:nvSpPr>
        <p:spPr>
          <a:xfrm>
            <a:off x="548640" y="365760"/>
            <a:ext cx="5486400" cy="274320"/>
          </a:xfrm>
          <a:prstGeom prst="rect">
            <a:avLst/>
          </a:prstGeom>
          <a:noFill/>
          <a:ln/>
        </p:spPr>
        <p:txBody>
          <a:bodyPr wrap="square" lIns="0" tIns="0" rIns="0" bIns="0" rtlCol="0" anchor="ctr"/>
          <a:lstStyle/>
          <a:p>
            <a:pPr indent="0" marL="0">
              <a:buNone/>
            </a:pPr>
            <a:r>
              <a:rPr lang="en-US" sz="1100" b="1" spc="300" kern="0" dirty="0">
                <a:solidFill>
                  <a:srgbClr val="F26B1D"/>
                </a:solidFill>
                <a:latin typeface="Calibri" pitchFamily="34" charset="0"/>
                <a:ea typeface="Calibri" pitchFamily="34" charset="-122"/>
                <a:cs typeface="Calibri" pitchFamily="34" charset="-120"/>
              </a:rPr>
              <a:t>PRODUCT DEMO</a:t>
            </a:r>
            <a:endParaRPr lang="en-US" sz="1100" dirty="0"/>
          </a:p>
        </p:txBody>
      </p:sp>
      <p:sp>
        <p:nvSpPr>
          <p:cNvPr id="5" name="Text 2"/>
          <p:cNvSpPr txBox="1"/>
          <p:nvPr/>
        </p:nvSpPr>
        <p:spPr>
          <a:xfrm>
            <a:off x="548640" y="658368"/>
            <a:ext cx="8046720" cy="822960"/>
          </a:xfrm>
          <a:prstGeom prst="rect">
            <a:avLst/>
          </a:prstGeom>
          <a:noFill/>
          <a:ln/>
        </p:spPr>
        <p:txBody>
          <a:bodyPr wrap="square" lIns="0" tIns="0" rIns="0" bIns="0" rtlCol="0" anchor="t"/>
          <a:lstStyle/>
          <a:p>
            <a:pPr indent="0" marL="0">
              <a:buNone/>
            </a:pPr>
            <a:r>
              <a:rPr lang="en-US" sz="2600" b="1" dirty="0">
                <a:solidFill>
                  <a:srgbClr val="111111"/>
                </a:solidFill>
                <a:latin typeface="Georgia" pitchFamily="34" charset="0"/>
                <a:ea typeface="Georgia" pitchFamily="34" charset="-122"/>
                <a:cs typeface="Georgia" pitchFamily="34" charset="-120"/>
              </a:rPr>
              <a:t>A working web app and a clickable demo</a:t>
            </a:r>
            <a:endParaRPr lang="en-US" sz="2600" dirty="0"/>
          </a:p>
        </p:txBody>
      </p:sp>
      <p:pic>
        <p:nvPicPr>
          <p:cNvPr id="6" name="Image 1" descr="desk.png">    </p:cNvPr>
          <p:cNvPicPr>
            <a:picLocks noChangeAspect="1"/>
          </p:cNvPicPr>
          <p:nvPr/>
        </p:nvPicPr>
        <p:blipFill>
          <a:blip r:embed="rId2"/>
          <a:stretch>
            <a:fillRect/>
          </a:stretch>
        </p:blipFill>
        <p:spPr>
          <a:xfrm>
            <a:off x="548640" y="1600200"/>
            <a:ext cx="4023360" cy="2660904"/>
          </a:xfrm>
          <a:prstGeom prst="rect">
            <a:avLst/>
          </a:prstGeom>
        </p:spPr>
      </p:pic>
      <p:pic>
        <p:nvPicPr>
          <p:cNvPr id="7" name="Image 2" descr="app.png">    </p:cNvPr>
          <p:cNvPicPr>
            <a:picLocks noChangeAspect="1"/>
          </p:cNvPicPr>
          <p:nvPr/>
        </p:nvPicPr>
        <p:blipFill>
          <a:blip r:embed="rId3"/>
          <a:stretch>
            <a:fillRect/>
          </a:stretch>
        </p:blipFill>
        <p:spPr>
          <a:xfrm>
            <a:off x="4709160" y="1600200"/>
            <a:ext cx="3886200" cy="2423160"/>
          </a:xfrm>
          <a:prstGeom prst="rect">
            <a:avLst/>
          </a:prstGeom>
        </p:spPr>
      </p:pic>
      <p:sp>
        <p:nvSpPr>
          <p:cNvPr id="8" name="Text 3"/>
          <p:cNvSpPr txBox="1"/>
          <p:nvPr/>
        </p:nvSpPr>
        <p:spPr>
          <a:xfrm>
            <a:off x="548640" y="4315968"/>
            <a:ext cx="4023360" cy="274320"/>
          </a:xfrm>
          <a:prstGeom prst="rect">
            <a:avLst/>
          </a:prstGeom>
          <a:noFill/>
          <a:ln/>
        </p:spPr>
        <p:txBody>
          <a:bodyPr wrap="square" lIns="0" tIns="0" rIns="0" bIns="0" rtlCol="0" anchor="ctr"/>
          <a:lstStyle/>
          <a:p>
            <a:pPr indent="0" marL="0">
              <a:buNone/>
            </a:pPr>
            <a:r>
              <a:rPr lang="en-US" sz="1100" dirty="0">
                <a:solidFill>
                  <a:srgbClr val="6B6B6B"/>
                </a:solidFill>
                <a:latin typeface="Calibri" pitchFamily="34" charset="0"/>
                <a:ea typeface="Calibri" pitchFamily="34" charset="-122"/>
                <a:cs typeface="Calibri" pitchFamily="34" charset="-120"/>
              </a:rPr>
              <a:t>Floor desk: evidence beside every recommendation</a:t>
            </a:r>
            <a:endParaRPr lang="en-US" sz="1100" dirty="0"/>
          </a:p>
        </p:txBody>
      </p:sp>
      <p:sp>
        <p:nvSpPr>
          <p:cNvPr id="9" name="Text 4"/>
          <p:cNvSpPr txBox="1"/>
          <p:nvPr/>
        </p:nvSpPr>
        <p:spPr>
          <a:xfrm>
            <a:off x="4709160" y="4160520"/>
            <a:ext cx="3886200" cy="274320"/>
          </a:xfrm>
          <a:prstGeom prst="rect">
            <a:avLst/>
          </a:prstGeom>
          <a:noFill/>
          <a:ln/>
        </p:spPr>
        <p:txBody>
          <a:bodyPr wrap="square" lIns="0" tIns="0" rIns="0" bIns="0" rtlCol="0" anchor="ctr"/>
          <a:lstStyle/>
          <a:p>
            <a:pPr indent="0" marL="0">
              <a:buNone/>
            </a:pPr>
            <a:r>
              <a:rPr lang="en-US" sz="1100" dirty="0">
                <a:solidFill>
                  <a:srgbClr val="6B6B6B"/>
                </a:solidFill>
                <a:latin typeface="Calibri" pitchFamily="34" charset="0"/>
                <a:ea typeface="Calibri" pitchFamily="34" charset="-122"/>
                <a:cs typeface="Calibri" pitchFamily="34" charset="-120"/>
              </a:rPr>
              <a:t>Web app: decision log with reasons, CSV in and out</a:t>
            </a:r>
            <a:endParaRPr lang="en-US" sz="1100" dirty="0"/>
          </a:p>
        </p:txBody>
      </p:sp>
      <p:sp>
        <p:nvSpPr>
          <p:cNvPr id="10" name="Text 5"/>
          <p:cNvSpPr txBox="1"/>
          <p:nvPr/>
        </p:nvSpPr>
        <p:spPr>
          <a:xfrm>
            <a:off x="548640" y="4663440"/>
            <a:ext cx="8046720" cy="274320"/>
          </a:xfrm>
          <a:prstGeom prst="rect">
            <a:avLst/>
          </a:prstGeom>
          <a:noFill/>
          <a:ln/>
        </p:spPr>
        <p:txBody>
          <a:bodyPr wrap="square" lIns="0" tIns="0" rIns="0" bIns="0" rtlCol="0" anchor="ctr"/>
          <a:lstStyle/>
          <a:p>
            <a:pPr indent="0" marL="0">
              <a:buNone/>
            </a:pPr>
            <a:r>
              <a:rPr lang="en-US" sz="1100" b="1" dirty="0">
                <a:solidFill>
                  <a:srgbClr val="F26B1D"/>
                </a:solidFill>
                <a:latin typeface="Calibri" pitchFamily="34" charset="0"/>
                <a:ea typeface="Calibri" pitchFamily="34" charset="-122"/>
                <a:cs typeface="Calibri" pitchFamily="34" charset="-120"/>
              </a:rPr>
              <a:t>plumb-floor-pricing-demo.vercel.app   |   github.com/Johnbritt/Plumb-Floor-Pricing</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logo_k.png">    </p:cNvPr>
          <p:cNvPicPr>
            <a:picLocks noChangeAspect="1"/>
          </p:cNvPicPr>
          <p:nvPr/>
        </p:nvPicPr>
        <p:blipFill>
          <a:blip r:embed="rId1"/>
          <a:stretch>
            <a:fillRect/>
          </a:stretch>
        </p:blipFill>
        <p:spPr>
          <a:xfrm>
            <a:off x="7726680" y="365760"/>
            <a:ext cx="208905" cy="246888"/>
          </a:xfrm>
          <a:prstGeom prst="rect">
            <a:avLst/>
          </a:prstGeom>
        </p:spPr>
      </p:pic>
      <p:sp>
        <p:nvSpPr>
          <p:cNvPr id="3" name="Text 0"/>
          <p:cNvSpPr txBox="1"/>
          <p:nvPr/>
        </p:nvSpPr>
        <p:spPr>
          <a:xfrm>
            <a:off x="8017881" y="347472"/>
            <a:ext cx="1152144" cy="283464"/>
          </a:xfrm>
          <a:prstGeom prst="rect">
            <a:avLst/>
          </a:prstGeom>
          <a:noFill/>
          <a:ln/>
        </p:spPr>
        <p:txBody>
          <a:bodyPr wrap="square" lIns="0" tIns="0" rIns="0" bIns="0" rtlCol="0" anchor="ctr"/>
          <a:lstStyle/>
          <a:p>
            <a:pPr indent="0" marL="0">
              <a:buNone/>
            </a:pPr>
            <a:r>
              <a:rPr lang="en-US" sz="1080" b="1" spc="400" kern="0" dirty="0">
                <a:solidFill>
                  <a:srgbClr val="111111"/>
                </a:solidFill>
                <a:latin typeface="Calibri" pitchFamily="34" charset="0"/>
                <a:ea typeface="Calibri" pitchFamily="34" charset="-122"/>
                <a:cs typeface="Calibri" pitchFamily="34" charset="-120"/>
              </a:rPr>
              <a:t>PLUMB</a:t>
            </a:r>
            <a:endParaRPr lang="en-US" sz="1080" dirty="0"/>
          </a:p>
        </p:txBody>
      </p:sp>
      <p:sp>
        <p:nvSpPr>
          <p:cNvPr id="4" name="Text 1"/>
          <p:cNvSpPr txBox="1"/>
          <p:nvPr/>
        </p:nvSpPr>
        <p:spPr>
          <a:xfrm>
            <a:off x="548640" y="365760"/>
            <a:ext cx="5486400" cy="274320"/>
          </a:xfrm>
          <a:prstGeom prst="rect">
            <a:avLst/>
          </a:prstGeom>
          <a:noFill/>
          <a:ln/>
        </p:spPr>
        <p:txBody>
          <a:bodyPr wrap="square" lIns="0" tIns="0" rIns="0" bIns="0" rtlCol="0" anchor="ctr"/>
          <a:lstStyle/>
          <a:p>
            <a:pPr indent="0" marL="0">
              <a:buNone/>
            </a:pPr>
            <a:r>
              <a:rPr lang="en-US" sz="1100" b="1" spc="300" kern="0" dirty="0">
                <a:solidFill>
                  <a:srgbClr val="F26B1D"/>
                </a:solidFill>
                <a:latin typeface="Calibri" pitchFamily="34" charset="0"/>
                <a:ea typeface="Calibri" pitchFamily="34" charset="-122"/>
                <a:cs typeface="Calibri" pitchFamily="34" charset="-120"/>
              </a:rPr>
              <a:t>TRACTION</a:t>
            </a:r>
            <a:endParaRPr lang="en-US" sz="1100" dirty="0"/>
          </a:p>
        </p:txBody>
      </p:sp>
      <p:sp>
        <p:nvSpPr>
          <p:cNvPr id="5" name="Text 2"/>
          <p:cNvSpPr txBox="1"/>
          <p:nvPr/>
        </p:nvSpPr>
        <p:spPr>
          <a:xfrm>
            <a:off x="548640" y="658368"/>
            <a:ext cx="8046720" cy="822960"/>
          </a:xfrm>
          <a:prstGeom prst="rect">
            <a:avLst/>
          </a:prstGeom>
          <a:noFill/>
          <a:ln/>
        </p:spPr>
        <p:txBody>
          <a:bodyPr wrap="square" lIns="0" tIns="0" rIns="0" bIns="0" rtlCol="0" anchor="t"/>
          <a:lstStyle/>
          <a:p>
            <a:pPr indent="0" marL="0">
              <a:buNone/>
            </a:pPr>
            <a:r>
              <a:rPr lang="en-US" sz="2600" b="1" dirty="0">
                <a:solidFill>
                  <a:srgbClr val="111111"/>
                </a:solidFill>
                <a:latin typeface="Georgia" pitchFamily="34" charset="0"/>
                <a:ea typeface="Georgia" pitchFamily="34" charset="-122"/>
                <a:cs typeface="Georgia" pitchFamily="34" charset="-120"/>
              </a:rPr>
              <a:t>What exists today, all verifiable in the repo</a:t>
            </a:r>
            <a:endParaRPr lang="en-US" sz="2600" dirty="0"/>
          </a:p>
        </p:txBody>
      </p:sp>
      <p:sp>
        <p:nvSpPr>
          <p:cNvPr id="6" name="Text 3"/>
          <p:cNvSpPr txBox="1"/>
          <p:nvPr/>
        </p:nvSpPr>
        <p:spPr>
          <a:xfrm>
            <a:off x="548640" y="1691640"/>
            <a:ext cx="3840480" cy="640080"/>
          </a:xfrm>
          <a:prstGeom prst="rect">
            <a:avLst/>
          </a:prstGeom>
          <a:noFill/>
          <a:ln/>
        </p:spPr>
        <p:txBody>
          <a:bodyPr wrap="square" lIns="0" tIns="0" rIns="0" bIns="0" rtlCol="0" anchor="ctr"/>
          <a:lstStyle/>
          <a:p>
            <a:pPr indent="0" marL="0">
              <a:buNone/>
            </a:pPr>
            <a:r>
              <a:rPr lang="en-US" sz="3800" b="1" dirty="0">
                <a:solidFill>
                  <a:srgbClr val="F26B1D"/>
                </a:solidFill>
                <a:latin typeface="Georgia" pitchFamily="34" charset="0"/>
                <a:ea typeface="Georgia" pitchFamily="34" charset="-122"/>
                <a:cs typeface="Georgia" pitchFamily="34" charset="-120"/>
              </a:rPr>
              <a:t>40 x 180</a:t>
            </a:r>
            <a:endParaRPr lang="en-US" sz="3800" dirty="0"/>
          </a:p>
        </p:txBody>
      </p:sp>
      <p:sp>
        <p:nvSpPr>
          <p:cNvPr id="7" name="Text 4"/>
          <p:cNvSpPr txBox="1"/>
          <p:nvPr/>
        </p:nvSpPr>
        <p:spPr>
          <a:xfrm>
            <a:off x="548640" y="2350008"/>
            <a:ext cx="3657600" cy="457200"/>
          </a:xfrm>
          <a:prstGeom prst="rect">
            <a:avLst/>
          </a:prstGeom>
          <a:noFill/>
          <a:ln/>
        </p:spPr>
        <p:txBody>
          <a:bodyPr wrap="square" lIns="0" tIns="0" rIns="0" bIns="0" rtlCol="0" anchor="t"/>
          <a:lstStyle/>
          <a:p>
            <a:pPr indent="0" marL="0">
              <a:buNone/>
            </a:pPr>
            <a:r>
              <a:rPr lang="en-US" sz="1400" dirty="0">
                <a:solidFill>
                  <a:srgbClr val="111111"/>
                </a:solidFill>
                <a:latin typeface="Calibri" pitchFamily="34" charset="0"/>
                <a:ea typeface="Calibri" pitchFamily="34" charset="-122"/>
                <a:cs typeface="Calibri" pitchFamily="34" charset="-120"/>
              </a:rPr>
              <a:t>sample cells and days, with events and ops notes</a:t>
            </a:r>
            <a:endParaRPr lang="en-US" sz="1400" dirty="0"/>
          </a:p>
        </p:txBody>
      </p:sp>
      <p:sp>
        <p:nvSpPr>
          <p:cNvPr id="8" name="Text 5"/>
          <p:cNvSpPr txBox="1"/>
          <p:nvPr/>
        </p:nvSpPr>
        <p:spPr>
          <a:xfrm>
            <a:off x="4663440" y="1691640"/>
            <a:ext cx="3840480" cy="640080"/>
          </a:xfrm>
          <a:prstGeom prst="rect">
            <a:avLst/>
          </a:prstGeom>
          <a:noFill/>
          <a:ln/>
        </p:spPr>
        <p:txBody>
          <a:bodyPr wrap="square" lIns="0" tIns="0" rIns="0" bIns="0" rtlCol="0" anchor="ctr"/>
          <a:lstStyle/>
          <a:p>
            <a:pPr indent="0" marL="0">
              <a:buNone/>
            </a:pPr>
            <a:r>
              <a:rPr lang="en-US" sz="3800" b="1" dirty="0">
                <a:solidFill>
                  <a:srgbClr val="F26B1D"/>
                </a:solidFill>
                <a:latin typeface="Georgia" pitchFamily="34" charset="0"/>
                <a:ea typeface="Georgia" pitchFamily="34" charset="-122"/>
                <a:cs typeface="Georgia" pitchFamily="34" charset="-120"/>
              </a:rPr>
              <a:t>6</a:t>
            </a:r>
            <a:endParaRPr lang="en-US" sz="3800" dirty="0"/>
          </a:p>
        </p:txBody>
      </p:sp>
      <p:sp>
        <p:nvSpPr>
          <p:cNvPr id="9" name="Text 6"/>
          <p:cNvSpPr txBox="1"/>
          <p:nvPr/>
        </p:nvSpPr>
        <p:spPr>
          <a:xfrm>
            <a:off x="4663440" y="2350008"/>
            <a:ext cx="3657600" cy="457200"/>
          </a:xfrm>
          <a:prstGeom prst="rect">
            <a:avLst/>
          </a:prstGeom>
          <a:noFill/>
          <a:ln/>
        </p:spPr>
        <p:txBody>
          <a:bodyPr wrap="square" lIns="0" tIns="0" rIns="0" bIns="0" rtlCol="0" anchor="t"/>
          <a:lstStyle/>
          <a:p>
            <a:pPr indent="0" marL="0">
              <a:buNone/>
            </a:pPr>
            <a:r>
              <a:rPr lang="en-US" sz="1400" dirty="0">
                <a:solidFill>
                  <a:srgbClr val="111111"/>
                </a:solidFill>
                <a:latin typeface="Calibri" pitchFamily="34" charset="0"/>
                <a:ea typeface="Calibri" pitchFamily="34" charset="-122"/>
                <a:cs typeface="Calibri" pitchFamily="34" charset="-120"/>
              </a:rPr>
              <a:t>arms evaluated, scored on a held-out world</a:t>
            </a:r>
            <a:endParaRPr lang="en-US" sz="1400" dirty="0"/>
          </a:p>
        </p:txBody>
      </p:sp>
      <p:sp>
        <p:nvSpPr>
          <p:cNvPr id="10" name="Text 7"/>
          <p:cNvSpPr txBox="1"/>
          <p:nvPr/>
        </p:nvSpPr>
        <p:spPr>
          <a:xfrm>
            <a:off x="548640" y="3017520"/>
            <a:ext cx="3840480" cy="640080"/>
          </a:xfrm>
          <a:prstGeom prst="rect">
            <a:avLst/>
          </a:prstGeom>
          <a:noFill/>
          <a:ln/>
        </p:spPr>
        <p:txBody>
          <a:bodyPr wrap="square" lIns="0" tIns="0" rIns="0" bIns="0" rtlCol="0" anchor="ctr"/>
          <a:lstStyle/>
          <a:p>
            <a:pPr indent="0" marL="0">
              <a:buNone/>
            </a:pPr>
            <a:r>
              <a:rPr lang="en-US" sz="3800" b="1" dirty="0">
                <a:solidFill>
                  <a:srgbClr val="F26B1D"/>
                </a:solidFill>
                <a:latin typeface="Georgia" pitchFamily="34" charset="0"/>
                <a:ea typeface="Georgia" pitchFamily="34" charset="-122"/>
                <a:cs typeface="Georgia" pitchFamily="34" charset="-120"/>
              </a:rPr>
              <a:t>100</a:t>
            </a:r>
            <a:endParaRPr lang="en-US" sz="3800" dirty="0"/>
          </a:p>
        </p:txBody>
      </p:sp>
      <p:sp>
        <p:nvSpPr>
          <p:cNvPr id="11" name="Text 8"/>
          <p:cNvSpPr txBox="1"/>
          <p:nvPr/>
        </p:nvSpPr>
        <p:spPr>
          <a:xfrm>
            <a:off x="548640" y="3675888"/>
            <a:ext cx="3657600" cy="457200"/>
          </a:xfrm>
          <a:prstGeom prst="rect">
            <a:avLst/>
          </a:prstGeom>
          <a:noFill/>
          <a:ln/>
        </p:spPr>
        <p:txBody>
          <a:bodyPr wrap="square" lIns="0" tIns="0" rIns="0" bIns="0" rtlCol="0" anchor="t"/>
          <a:lstStyle/>
          <a:p>
            <a:pPr indent="0" marL="0">
              <a:buNone/>
            </a:pPr>
            <a:r>
              <a:rPr lang="en-US" sz="1400" dirty="0">
                <a:solidFill>
                  <a:srgbClr val="111111"/>
                </a:solidFill>
                <a:latin typeface="Calibri" pitchFamily="34" charset="0"/>
                <a:ea typeface="Calibri" pitchFamily="34" charset="-122"/>
                <a:cs typeface="Calibri" pitchFamily="34" charset="-120"/>
              </a:rPr>
              <a:t>test runs per pilot design, plus A/A placebo</a:t>
            </a:r>
            <a:endParaRPr lang="en-US" sz="1400" dirty="0"/>
          </a:p>
        </p:txBody>
      </p:sp>
      <p:sp>
        <p:nvSpPr>
          <p:cNvPr id="12" name="Text 9"/>
          <p:cNvSpPr txBox="1"/>
          <p:nvPr/>
        </p:nvSpPr>
        <p:spPr>
          <a:xfrm>
            <a:off x="4663440" y="3017520"/>
            <a:ext cx="3840480" cy="640080"/>
          </a:xfrm>
          <a:prstGeom prst="rect">
            <a:avLst/>
          </a:prstGeom>
          <a:noFill/>
          <a:ln/>
        </p:spPr>
        <p:txBody>
          <a:bodyPr wrap="square" lIns="0" tIns="0" rIns="0" bIns="0" rtlCol="0" anchor="ctr"/>
          <a:lstStyle/>
          <a:p>
            <a:pPr indent="0" marL="0">
              <a:buNone/>
            </a:pPr>
            <a:r>
              <a:rPr lang="en-US" sz="3800" b="1" dirty="0">
                <a:solidFill>
                  <a:srgbClr val="F26B1D"/>
                </a:solidFill>
                <a:latin typeface="Georgia" pitchFamily="34" charset="0"/>
                <a:ea typeface="Georgia" pitchFamily="34" charset="-122"/>
                <a:cs typeface="Georgia" pitchFamily="34" charset="-120"/>
              </a:rPr>
              <a:t>11</a:t>
            </a:r>
            <a:endParaRPr lang="en-US" sz="3800" dirty="0"/>
          </a:p>
        </p:txBody>
      </p:sp>
      <p:sp>
        <p:nvSpPr>
          <p:cNvPr id="13" name="Text 10"/>
          <p:cNvSpPr txBox="1"/>
          <p:nvPr/>
        </p:nvSpPr>
        <p:spPr>
          <a:xfrm>
            <a:off x="4663440" y="3675888"/>
            <a:ext cx="3657600" cy="457200"/>
          </a:xfrm>
          <a:prstGeom prst="rect">
            <a:avLst/>
          </a:prstGeom>
          <a:noFill/>
          <a:ln/>
        </p:spPr>
        <p:txBody>
          <a:bodyPr wrap="square" lIns="0" tIns="0" rIns="0" bIns="0" rtlCol="0" anchor="t"/>
          <a:lstStyle/>
          <a:p>
            <a:pPr indent="0" marL="0">
              <a:buNone/>
            </a:pPr>
            <a:r>
              <a:rPr lang="en-US" sz="1400" dirty="0">
                <a:solidFill>
                  <a:srgbClr val="111111"/>
                </a:solidFill>
                <a:latin typeface="Calibri" pitchFamily="34" charset="0"/>
                <a:ea typeface="Calibri" pitchFamily="34" charset="-122"/>
                <a:cs typeface="Calibri" pitchFamily="34" charset="-120"/>
              </a:rPr>
              <a:t>automated tests, CI passing on GitHub</a:t>
            </a:r>
            <a:endParaRPr lang="en-US" sz="1400" dirty="0"/>
          </a:p>
        </p:txBody>
      </p:sp>
      <p:sp>
        <p:nvSpPr>
          <p:cNvPr id="14" name="Text 11"/>
          <p:cNvSpPr txBox="1"/>
          <p:nvPr/>
        </p:nvSpPr>
        <p:spPr>
          <a:xfrm>
            <a:off x="548640" y="4434840"/>
            <a:ext cx="8046720" cy="457200"/>
          </a:xfrm>
          <a:prstGeom prst="rect">
            <a:avLst/>
          </a:prstGeom>
          <a:noFill/>
          <a:ln/>
        </p:spPr>
        <p:txBody>
          <a:bodyPr wrap="square" lIns="0" tIns="0" rIns="0" bIns="0" rtlCol="0" anchor="ctr"/>
          <a:lstStyle/>
          <a:p>
            <a:pPr indent="0" marL="0">
              <a:buNone/>
            </a:pPr>
            <a:r>
              <a:rPr lang="en-US" sz="1300" i="1" dirty="0">
                <a:solidFill>
                  <a:srgbClr val="6B6B6B"/>
                </a:solidFill>
                <a:latin typeface="Calibri" pitchFamily="34" charset="0"/>
                <a:ea typeface="Calibri" pitchFamily="34" charset="-122"/>
                <a:cs typeface="Calibri" pitchFamily="34" charset="-120"/>
              </a:rPr>
              <a:t>Next: a matched-cell pilot with real ops colleagues. Success criteria are already written and checked on sample data.</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logo_k.png">    </p:cNvPr>
          <p:cNvPicPr>
            <a:picLocks noChangeAspect="1"/>
          </p:cNvPicPr>
          <p:nvPr/>
        </p:nvPicPr>
        <p:blipFill>
          <a:blip r:embed="rId1"/>
          <a:stretch>
            <a:fillRect/>
          </a:stretch>
        </p:blipFill>
        <p:spPr>
          <a:xfrm>
            <a:off x="7726680" y="365760"/>
            <a:ext cx="208905" cy="246888"/>
          </a:xfrm>
          <a:prstGeom prst="rect">
            <a:avLst/>
          </a:prstGeom>
        </p:spPr>
      </p:pic>
      <p:sp>
        <p:nvSpPr>
          <p:cNvPr id="3" name="Text 0"/>
          <p:cNvSpPr txBox="1"/>
          <p:nvPr/>
        </p:nvSpPr>
        <p:spPr>
          <a:xfrm>
            <a:off x="8017881" y="347472"/>
            <a:ext cx="1152144" cy="283464"/>
          </a:xfrm>
          <a:prstGeom prst="rect">
            <a:avLst/>
          </a:prstGeom>
          <a:noFill/>
          <a:ln/>
        </p:spPr>
        <p:txBody>
          <a:bodyPr wrap="square" lIns="0" tIns="0" rIns="0" bIns="0" rtlCol="0" anchor="ctr"/>
          <a:lstStyle/>
          <a:p>
            <a:pPr indent="0" marL="0">
              <a:buNone/>
            </a:pPr>
            <a:r>
              <a:rPr lang="en-US" sz="1080" b="1" spc="400" kern="0" dirty="0">
                <a:solidFill>
                  <a:srgbClr val="111111"/>
                </a:solidFill>
                <a:latin typeface="Calibri" pitchFamily="34" charset="0"/>
                <a:ea typeface="Calibri" pitchFamily="34" charset="-122"/>
                <a:cs typeface="Calibri" pitchFamily="34" charset="-120"/>
              </a:rPr>
              <a:t>PLUMB</a:t>
            </a:r>
            <a:endParaRPr lang="en-US" sz="1080" dirty="0"/>
          </a:p>
        </p:txBody>
      </p:sp>
      <p:sp>
        <p:nvSpPr>
          <p:cNvPr id="4" name="Text 1"/>
          <p:cNvSpPr txBox="1"/>
          <p:nvPr/>
        </p:nvSpPr>
        <p:spPr>
          <a:xfrm>
            <a:off x="548640" y="365760"/>
            <a:ext cx="5486400" cy="274320"/>
          </a:xfrm>
          <a:prstGeom prst="rect">
            <a:avLst/>
          </a:prstGeom>
          <a:noFill/>
          <a:ln/>
        </p:spPr>
        <p:txBody>
          <a:bodyPr wrap="square" lIns="0" tIns="0" rIns="0" bIns="0" rtlCol="0" anchor="ctr"/>
          <a:lstStyle/>
          <a:p>
            <a:pPr indent="0" marL="0">
              <a:buNone/>
            </a:pPr>
            <a:r>
              <a:rPr lang="en-US" sz="1100" b="1" spc="300" kern="0" dirty="0">
                <a:solidFill>
                  <a:srgbClr val="F26B1D"/>
                </a:solidFill>
                <a:latin typeface="Calibri" pitchFamily="34" charset="0"/>
                <a:ea typeface="Calibri" pitchFamily="34" charset="-122"/>
                <a:cs typeface="Calibri" pitchFamily="34" charset="-120"/>
              </a:rPr>
              <a:t>RESULTS ON SAMPLE DATA</a:t>
            </a:r>
            <a:endParaRPr lang="en-US" sz="1100" dirty="0"/>
          </a:p>
        </p:txBody>
      </p:sp>
      <p:sp>
        <p:nvSpPr>
          <p:cNvPr id="5" name="Text 2"/>
          <p:cNvSpPr txBox="1"/>
          <p:nvPr/>
        </p:nvSpPr>
        <p:spPr>
          <a:xfrm>
            <a:off x="548640" y="658368"/>
            <a:ext cx="8046720" cy="822960"/>
          </a:xfrm>
          <a:prstGeom prst="rect">
            <a:avLst/>
          </a:prstGeom>
          <a:noFill/>
          <a:ln/>
        </p:spPr>
        <p:txBody>
          <a:bodyPr wrap="square" lIns="0" tIns="0" rIns="0" bIns="0" rtlCol="0" anchor="t"/>
          <a:lstStyle/>
          <a:p>
            <a:pPr indent="0" marL="0">
              <a:buNone/>
            </a:pPr>
            <a:r>
              <a:rPr lang="en-US" sz="2600" b="1" dirty="0">
                <a:solidFill>
                  <a:srgbClr val="111111"/>
                </a:solidFill>
                <a:latin typeface="Georgia" pitchFamily="34" charset="0"/>
                <a:ea typeface="Georgia" pitchFamily="34" charset="-122"/>
                <a:cs typeface="Georgia" pitchFamily="34" charset="-120"/>
              </a:rPr>
              <a:t>The statistics layer does the work. Refusal buys safety.</a:t>
            </a:r>
            <a:endParaRPr lang="en-US" sz="2600" dirty="0"/>
          </a:p>
        </p:txBody>
      </p:sp>
      <p:graphicFrame>
        <p:nvGraphicFramePr>
          <p:cNvPr id="6" name="Chart 0" descr=""/>
          <p:cNvGraphicFramePr/>
          <p:nvPr/>
        </p:nvGraphicFramePr>
        <p:xfrm>
          <a:off x="457200" y="1554480"/>
          <a:ext cx="5120640" cy="3200400"/>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5852160" y="1737360"/>
            <a:ext cx="2834640" cy="2926080"/>
          </a:xfrm>
          <a:prstGeom prst="rect">
            <a:avLst/>
          </a:prstGeom>
          <a:noFill/>
          <a:ln/>
        </p:spPr>
        <p:txBody>
          <a:bodyPr wrap="square" lIns="0" tIns="0" rIns="0" bIns="0" rtlCol="0" anchor="t"/>
          <a:lstStyle/>
          <a:p>
            <a:pPr indent="0" marL="0">
              <a:spcAft>
                <a:spcPts val="400"/>
              </a:spcAft>
              <a:buNone/>
            </a:pPr>
            <a:r>
              <a:rPr lang="en-US" sz="1300" b="1" dirty="0">
                <a:solidFill>
                  <a:srgbClr val="111111"/>
                </a:solidFill>
                <a:latin typeface="Calibri" pitchFamily="34" charset="0"/>
                <a:ea typeface="Calibri" pitchFamily="34" charset="-122"/>
                <a:cs typeface="Calibri" pitchFamily="34" charset="-120"/>
              </a:rPr>
              <a:t>Harmful moves</a:t>
            </a:r>
            <a:endParaRPr lang="en-US" sz="1300" dirty="0"/>
          </a:p>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Ops alone 16.3%. Unguarded stats 6.2%. Guarded 2.6% to 3.0%.</a:t>
            </a:r>
            <a:endParaRPr lang="en-US" sz="1300" dirty="0"/>
          </a:p>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 </a:t>
            </a:r>
            <a:endParaRPr lang="en-US" sz="1300" dirty="0"/>
          </a:p>
          <a:p>
            <a:pPr indent="0" marL="0">
              <a:spcAft>
                <a:spcPts val="400"/>
              </a:spcAft>
              <a:buNone/>
            </a:pPr>
            <a:r>
              <a:rPr lang="en-US" sz="1300" b="1" dirty="0">
                <a:solidFill>
                  <a:srgbClr val="111111"/>
                </a:solidFill>
                <a:latin typeface="Calibri" pitchFamily="34" charset="0"/>
                <a:ea typeface="Calibri" pitchFamily="34" charset="-122"/>
                <a:cs typeface="Calibri" pitchFamily="34" charset="-120"/>
              </a:rPr>
              <a:t>What did not hold</a:t>
            </a:r>
            <a:endParaRPr lang="en-US" sz="1300" dirty="0"/>
          </a:p>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The agent stand-in did not beat a plain rule. The pair did not beat the model alone. Both stay open until the Claude backend is run.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logo_k.png">    </p:cNvPr>
          <p:cNvPicPr>
            <a:picLocks noChangeAspect="1"/>
          </p:cNvPicPr>
          <p:nvPr/>
        </p:nvPicPr>
        <p:blipFill>
          <a:blip r:embed="rId1"/>
          <a:stretch>
            <a:fillRect/>
          </a:stretch>
        </p:blipFill>
        <p:spPr>
          <a:xfrm>
            <a:off x="7726680" y="365760"/>
            <a:ext cx="208905" cy="246888"/>
          </a:xfrm>
          <a:prstGeom prst="rect">
            <a:avLst/>
          </a:prstGeom>
        </p:spPr>
      </p:pic>
      <p:sp>
        <p:nvSpPr>
          <p:cNvPr id="3" name="Text 0"/>
          <p:cNvSpPr txBox="1"/>
          <p:nvPr/>
        </p:nvSpPr>
        <p:spPr>
          <a:xfrm>
            <a:off x="8017881" y="347472"/>
            <a:ext cx="1152144" cy="283464"/>
          </a:xfrm>
          <a:prstGeom prst="rect">
            <a:avLst/>
          </a:prstGeom>
          <a:noFill/>
          <a:ln/>
        </p:spPr>
        <p:txBody>
          <a:bodyPr wrap="square" lIns="0" tIns="0" rIns="0" bIns="0" rtlCol="0" anchor="ctr"/>
          <a:lstStyle/>
          <a:p>
            <a:pPr indent="0" marL="0">
              <a:buNone/>
            </a:pPr>
            <a:r>
              <a:rPr lang="en-US" sz="1080" b="1" spc="400" kern="0" dirty="0">
                <a:solidFill>
                  <a:srgbClr val="111111"/>
                </a:solidFill>
                <a:latin typeface="Calibri" pitchFamily="34" charset="0"/>
                <a:ea typeface="Calibri" pitchFamily="34" charset="-122"/>
                <a:cs typeface="Calibri" pitchFamily="34" charset="-120"/>
              </a:rPr>
              <a:t>PLUMB</a:t>
            </a:r>
            <a:endParaRPr lang="en-US" sz="1080" dirty="0"/>
          </a:p>
        </p:txBody>
      </p:sp>
      <p:sp>
        <p:nvSpPr>
          <p:cNvPr id="4" name="Text 1"/>
          <p:cNvSpPr txBox="1"/>
          <p:nvPr/>
        </p:nvSpPr>
        <p:spPr>
          <a:xfrm>
            <a:off x="548640" y="365760"/>
            <a:ext cx="5486400" cy="274320"/>
          </a:xfrm>
          <a:prstGeom prst="rect">
            <a:avLst/>
          </a:prstGeom>
          <a:noFill/>
          <a:ln/>
        </p:spPr>
        <p:txBody>
          <a:bodyPr wrap="square" lIns="0" tIns="0" rIns="0" bIns="0" rtlCol="0" anchor="ctr"/>
          <a:lstStyle/>
          <a:p>
            <a:pPr indent="0" marL="0">
              <a:buNone/>
            </a:pPr>
            <a:r>
              <a:rPr lang="en-US" sz="1100" b="1" spc="300" kern="0" dirty="0">
                <a:solidFill>
                  <a:srgbClr val="F26B1D"/>
                </a:solidFill>
                <a:latin typeface="Calibri" pitchFamily="34" charset="0"/>
                <a:ea typeface="Calibri" pitchFamily="34" charset="-122"/>
                <a:cs typeface="Calibri" pitchFamily="34" charset="-120"/>
              </a:rPr>
              <a:t>BUILD JOURNEY</a:t>
            </a:r>
            <a:endParaRPr lang="en-US" sz="1100" dirty="0"/>
          </a:p>
        </p:txBody>
      </p:sp>
      <p:sp>
        <p:nvSpPr>
          <p:cNvPr id="5" name="Text 2"/>
          <p:cNvSpPr txBox="1"/>
          <p:nvPr/>
        </p:nvSpPr>
        <p:spPr>
          <a:xfrm>
            <a:off x="548640" y="658368"/>
            <a:ext cx="8046720" cy="822960"/>
          </a:xfrm>
          <a:prstGeom prst="rect">
            <a:avLst/>
          </a:prstGeom>
          <a:noFill/>
          <a:ln/>
        </p:spPr>
        <p:txBody>
          <a:bodyPr wrap="square" lIns="0" tIns="0" rIns="0" bIns="0" rtlCol="0" anchor="t"/>
          <a:lstStyle/>
          <a:p>
            <a:pPr indent="0" marL="0">
              <a:buNone/>
            </a:pPr>
            <a:r>
              <a:rPr lang="en-US" sz="2600" b="1" dirty="0">
                <a:solidFill>
                  <a:srgbClr val="111111"/>
                </a:solidFill>
                <a:latin typeface="Georgia" pitchFamily="34" charset="0"/>
                <a:ea typeface="Georgia" pitchFamily="34" charset="-122"/>
                <a:cs typeface="Georgia" pitchFamily="34" charset="-120"/>
              </a:rPr>
              <a:t>The findings changed the design four times</a:t>
            </a:r>
            <a:endParaRPr lang="en-US" sz="2600" dirty="0"/>
          </a:p>
        </p:txBody>
      </p:sp>
      <p:sp>
        <p:nvSpPr>
          <p:cNvPr id="6" name="Text 3"/>
          <p:cNvSpPr txBox="1"/>
          <p:nvPr/>
        </p:nvSpPr>
        <p:spPr>
          <a:xfrm>
            <a:off x="548640" y="1554480"/>
            <a:ext cx="1188720" cy="548640"/>
          </a:xfrm>
          <a:prstGeom prst="rect">
            <a:avLst/>
          </a:prstGeom>
          <a:noFill/>
          <a:ln/>
        </p:spPr>
        <p:txBody>
          <a:bodyPr wrap="square" lIns="0" tIns="0" rIns="0" bIns="0" rtlCol="0" anchor="ctr"/>
          <a:lstStyle/>
          <a:p>
            <a:pPr indent="0" marL="0">
              <a:buNone/>
            </a:pPr>
            <a:r>
              <a:rPr lang="en-US" sz="1500" b="1" dirty="0">
                <a:solidFill>
                  <a:srgbClr val="F26B1D"/>
                </a:solidFill>
                <a:latin typeface="Georgia" pitchFamily="34" charset="0"/>
                <a:ea typeface="Georgia" pitchFamily="34" charset="-122"/>
                <a:cs typeface="Georgia" pitchFamily="34" charset="-120"/>
              </a:rPr>
              <a:t>Scope</a:t>
            </a:r>
            <a:endParaRPr lang="en-US" sz="1500" dirty="0"/>
          </a:p>
        </p:txBody>
      </p:sp>
      <p:sp>
        <p:nvSpPr>
          <p:cNvPr id="7" name="Text 4"/>
          <p:cNvSpPr txBox="1"/>
          <p:nvPr/>
        </p:nvSpPr>
        <p:spPr>
          <a:xfrm>
            <a:off x="1828800" y="1554480"/>
            <a:ext cx="6766560" cy="548640"/>
          </a:xfrm>
          <a:prstGeom prst="rect">
            <a:avLst/>
          </a:prstGeom>
          <a:noFill/>
          <a:ln/>
        </p:spPr>
        <p:txBody>
          <a:bodyPr wrap="square" lIns="0" tIns="0" rIns="0" bIns="0" rtlCol="0" anchor="ctr"/>
          <a:lstStyle/>
          <a:p>
            <a:pPr indent="0" marL="0">
              <a:buNone/>
            </a:pPr>
            <a:r>
              <a:rPr lang="en-US" sz="1300" dirty="0">
                <a:solidFill>
                  <a:srgbClr val="111111"/>
                </a:solidFill>
                <a:latin typeface="Calibri" pitchFamily="34" charset="0"/>
                <a:ea typeface="Calibri" pitchFamily="34" charset="-122"/>
                <a:cs typeface="Calibri" pitchFamily="34" charset="-120"/>
              </a:rPr>
              <a:t>Started as a VAST/GAM discrepancy adjudicator, narrowed to floor pricing where the decision and the outcome are both measurable</a:t>
            </a:r>
            <a:endParaRPr lang="en-US" sz="1300" dirty="0"/>
          </a:p>
        </p:txBody>
      </p:sp>
      <p:sp>
        <p:nvSpPr>
          <p:cNvPr id="8" name="Shape 5"/>
          <p:cNvSpPr/>
          <p:nvPr/>
        </p:nvSpPr>
        <p:spPr>
          <a:xfrm>
            <a:off x="548640" y="2148840"/>
            <a:ext cx="8046720" cy="0"/>
          </a:xfrm>
          <a:prstGeom prst="line">
            <a:avLst/>
          </a:prstGeom>
          <a:noFill/>
          <a:ln w="9525">
            <a:solidFill>
              <a:srgbClr val="E5E5E5"/>
            </a:solidFill>
            <a:prstDash val="solid"/>
          </a:ln>
        </p:spPr>
      </p:sp>
      <p:sp>
        <p:nvSpPr>
          <p:cNvPr id="9" name="Text 6"/>
          <p:cNvSpPr txBox="1"/>
          <p:nvPr/>
        </p:nvSpPr>
        <p:spPr>
          <a:xfrm>
            <a:off x="548640" y="2194560"/>
            <a:ext cx="1188720" cy="548640"/>
          </a:xfrm>
          <a:prstGeom prst="rect">
            <a:avLst/>
          </a:prstGeom>
          <a:noFill/>
          <a:ln/>
        </p:spPr>
        <p:txBody>
          <a:bodyPr wrap="square" lIns="0" tIns="0" rIns="0" bIns="0" rtlCol="0" anchor="ctr"/>
          <a:lstStyle/>
          <a:p>
            <a:pPr indent="0" marL="0">
              <a:buNone/>
            </a:pPr>
            <a:r>
              <a:rPr lang="en-US" sz="1500" b="1" dirty="0">
                <a:solidFill>
                  <a:srgbClr val="F26B1D"/>
                </a:solidFill>
                <a:latin typeface="Georgia" pitchFamily="34" charset="0"/>
                <a:ea typeface="Georgia" pitchFamily="34" charset="-122"/>
                <a:cs typeface="Georgia" pitchFamily="34" charset="-120"/>
              </a:rPr>
              <a:t>v1</a:t>
            </a:r>
            <a:endParaRPr lang="en-US" sz="1500" dirty="0"/>
          </a:p>
        </p:txBody>
      </p:sp>
      <p:sp>
        <p:nvSpPr>
          <p:cNvPr id="10" name="Text 7"/>
          <p:cNvSpPr txBox="1"/>
          <p:nvPr/>
        </p:nvSpPr>
        <p:spPr>
          <a:xfrm>
            <a:off x="1828800" y="2194560"/>
            <a:ext cx="6766560" cy="548640"/>
          </a:xfrm>
          <a:prstGeom prst="rect">
            <a:avLst/>
          </a:prstGeom>
          <a:noFill/>
          <a:ln/>
        </p:spPr>
        <p:txBody>
          <a:bodyPr wrap="square" lIns="0" tIns="0" rIns="0" bIns="0" rtlCol="0" anchor="ctr"/>
          <a:lstStyle/>
          <a:p>
            <a:pPr indent="0" marL="0">
              <a:buNone/>
            </a:pPr>
            <a:r>
              <a:rPr lang="en-US" sz="1300" dirty="0">
                <a:solidFill>
                  <a:srgbClr val="111111"/>
                </a:solidFill>
                <a:latin typeface="Calibri" pitchFamily="34" charset="0"/>
                <a:ea typeface="Calibri" pitchFamily="34" charset="-122"/>
                <a:cs typeface="Calibri" pitchFamily="34" charset="-120"/>
              </a:rPr>
              <a:t>Hard significance gate refused 82% of days and cost 1.7 points. Replaced by a confidence-scaled step</a:t>
            </a:r>
            <a:endParaRPr lang="en-US" sz="1300" dirty="0"/>
          </a:p>
        </p:txBody>
      </p:sp>
      <p:sp>
        <p:nvSpPr>
          <p:cNvPr id="11" name="Shape 8"/>
          <p:cNvSpPr/>
          <p:nvPr/>
        </p:nvSpPr>
        <p:spPr>
          <a:xfrm>
            <a:off x="548640" y="2788920"/>
            <a:ext cx="8046720" cy="0"/>
          </a:xfrm>
          <a:prstGeom prst="line">
            <a:avLst/>
          </a:prstGeom>
          <a:noFill/>
          <a:ln w="9525">
            <a:solidFill>
              <a:srgbClr val="E5E5E5"/>
            </a:solidFill>
            <a:prstDash val="solid"/>
          </a:ln>
        </p:spPr>
      </p:sp>
      <p:sp>
        <p:nvSpPr>
          <p:cNvPr id="12" name="Text 9"/>
          <p:cNvSpPr txBox="1"/>
          <p:nvPr/>
        </p:nvSpPr>
        <p:spPr>
          <a:xfrm>
            <a:off x="548640" y="2834640"/>
            <a:ext cx="1188720" cy="548640"/>
          </a:xfrm>
          <a:prstGeom prst="rect">
            <a:avLst/>
          </a:prstGeom>
          <a:noFill/>
          <a:ln/>
        </p:spPr>
        <p:txBody>
          <a:bodyPr wrap="square" lIns="0" tIns="0" rIns="0" bIns="0" rtlCol="0" anchor="ctr"/>
          <a:lstStyle/>
          <a:p>
            <a:pPr indent="0" marL="0">
              <a:buNone/>
            </a:pPr>
            <a:r>
              <a:rPr lang="en-US" sz="1500" b="1" dirty="0">
                <a:solidFill>
                  <a:srgbClr val="F26B1D"/>
                </a:solidFill>
                <a:latin typeface="Georgia" pitchFamily="34" charset="0"/>
                <a:ea typeface="Georgia" pitchFamily="34" charset="-122"/>
                <a:cs typeface="Georgia" pitchFamily="34" charset="-120"/>
              </a:rPr>
              <a:t>Metric</a:t>
            </a:r>
            <a:endParaRPr lang="en-US" sz="1500" dirty="0"/>
          </a:p>
        </p:txBody>
      </p:sp>
      <p:sp>
        <p:nvSpPr>
          <p:cNvPr id="13" name="Text 10"/>
          <p:cNvSpPr txBox="1"/>
          <p:nvPr/>
        </p:nvSpPr>
        <p:spPr>
          <a:xfrm>
            <a:off x="1828800" y="2834640"/>
            <a:ext cx="6766560" cy="548640"/>
          </a:xfrm>
          <a:prstGeom prst="rect">
            <a:avLst/>
          </a:prstGeom>
          <a:noFill/>
          <a:ln/>
        </p:spPr>
        <p:txBody>
          <a:bodyPr wrap="square" lIns="0" tIns="0" rIns="0" bIns="0" rtlCol="0" anchor="ctr"/>
          <a:lstStyle/>
          <a:p>
            <a:pPr indent="0" marL="0">
              <a:buNone/>
            </a:pPr>
            <a:r>
              <a:rPr lang="en-US" sz="1300" dirty="0">
                <a:solidFill>
                  <a:srgbClr val="111111"/>
                </a:solidFill>
                <a:latin typeface="Calibri" pitchFamily="34" charset="0"/>
                <a:ea typeface="Calibri" pitchFamily="34" charset="-122"/>
                <a:cs typeface="Calibri" pitchFamily="34" charset="-120"/>
              </a:rPr>
              <a:t>Exploration jitter made held floors look harmful. Harm redefined: move over 10% and revenue down over 1%</a:t>
            </a:r>
            <a:endParaRPr lang="en-US" sz="1300" dirty="0"/>
          </a:p>
        </p:txBody>
      </p:sp>
      <p:sp>
        <p:nvSpPr>
          <p:cNvPr id="14" name="Shape 11"/>
          <p:cNvSpPr/>
          <p:nvPr/>
        </p:nvSpPr>
        <p:spPr>
          <a:xfrm>
            <a:off x="548640" y="3429000"/>
            <a:ext cx="8046720" cy="0"/>
          </a:xfrm>
          <a:prstGeom prst="line">
            <a:avLst/>
          </a:prstGeom>
          <a:noFill/>
          <a:ln w="9525">
            <a:solidFill>
              <a:srgbClr val="E5E5E5"/>
            </a:solidFill>
            <a:prstDash val="solid"/>
          </a:ln>
        </p:spPr>
      </p:sp>
      <p:sp>
        <p:nvSpPr>
          <p:cNvPr id="15" name="Text 12"/>
          <p:cNvSpPr txBox="1"/>
          <p:nvPr/>
        </p:nvSpPr>
        <p:spPr>
          <a:xfrm>
            <a:off x="548640" y="3474720"/>
            <a:ext cx="1188720" cy="548640"/>
          </a:xfrm>
          <a:prstGeom prst="rect">
            <a:avLst/>
          </a:prstGeom>
          <a:noFill/>
          <a:ln/>
        </p:spPr>
        <p:txBody>
          <a:bodyPr wrap="square" lIns="0" tIns="0" rIns="0" bIns="0" rtlCol="0" anchor="ctr"/>
          <a:lstStyle/>
          <a:p>
            <a:pPr indent="0" marL="0">
              <a:buNone/>
            </a:pPr>
            <a:r>
              <a:rPr lang="en-US" sz="1500" b="1" dirty="0">
                <a:solidFill>
                  <a:srgbClr val="F26B1D"/>
                </a:solidFill>
                <a:latin typeface="Georgia" pitchFamily="34" charset="0"/>
                <a:ea typeface="Georgia" pitchFamily="34" charset="-122"/>
                <a:cs typeface="Georgia" pitchFamily="34" charset="-120"/>
              </a:rPr>
              <a:t>Findings</a:t>
            </a:r>
            <a:endParaRPr lang="en-US" sz="1500" dirty="0"/>
          </a:p>
        </p:txBody>
      </p:sp>
      <p:sp>
        <p:nvSpPr>
          <p:cNvPr id="16" name="Text 13"/>
          <p:cNvSpPr txBox="1"/>
          <p:nvPr/>
        </p:nvSpPr>
        <p:spPr>
          <a:xfrm>
            <a:off x="1828800" y="3474720"/>
            <a:ext cx="6766560" cy="548640"/>
          </a:xfrm>
          <a:prstGeom prst="rect">
            <a:avLst/>
          </a:prstGeom>
          <a:noFill/>
          <a:ln/>
        </p:spPr>
        <p:txBody>
          <a:bodyPr wrap="square" lIns="0" tIns="0" rIns="0" bIns="0" rtlCol="0" anchor="ctr"/>
          <a:lstStyle/>
          <a:p>
            <a:pPr indent="0" marL="0">
              <a:buNone/>
            </a:pPr>
            <a:r>
              <a:rPr lang="en-US" sz="1300" dirty="0">
                <a:solidFill>
                  <a:srgbClr val="111111"/>
                </a:solidFill>
                <a:latin typeface="Calibri" pitchFamily="34" charset="0"/>
                <a:ea typeface="Calibri" pitchFamily="34" charset="-122"/>
                <a:cs typeface="Calibri" pitchFamily="34" charset="-120"/>
              </a:rPr>
              <a:t>Refusing thin cells freezes learning. Holding during an outage can hurt</a:t>
            </a:r>
            <a:endParaRPr lang="en-US" sz="1300" dirty="0"/>
          </a:p>
        </p:txBody>
      </p:sp>
      <p:sp>
        <p:nvSpPr>
          <p:cNvPr id="17" name="Shape 14"/>
          <p:cNvSpPr/>
          <p:nvPr/>
        </p:nvSpPr>
        <p:spPr>
          <a:xfrm>
            <a:off x="548640" y="4069080"/>
            <a:ext cx="8046720" cy="0"/>
          </a:xfrm>
          <a:prstGeom prst="line">
            <a:avLst/>
          </a:prstGeom>
          <a:noFill/>
          <a:ln w="9525">
            <a:solidFill>
              <a:srgbClr val="E5E5E5"/>
            </a:solidFill>
            <a:prstDash val="solid"/>
          </a:ln>
        </p:spPr>
      </p:sp>
      <p:sp>
        <p:nvSpPr>
          <p:cNvPr id="18" name="Text 15"/>
          <p:cNvSpPr txBox="1"/>
          <p:nvPr/>
        </p:nvSpPr>
        <p:spPr>
          <a:xfrm>
            <a:off x="548640" y="4114800"/>
            <a:ext cx="1188720" cy="548640"/>
          </a:xfrm>
          <a:prstGeom prst="rect">
            <a:avLst/>
          </a:prstGeom>
          <a:noFill/>
          <a:ln/>
        </p:spPr>
        <p:txBody>
          <a:bodyPr wrap="square" lIns="0" tIns="0" rIns="0" bIns="0" rtlCol="0" anchor="ctr"/>
          <a:lstStyle/>
          <a:p>
            <a:pPr indent="0" marL="0">
              <a:buNone/>
            </a:pPr>
            <a:r>
              <a:rPr lang="en-US" sz="1500" b="1" dirty="0">
                <a:solidFill>
                  <a:srgbClr val="F26B1D"/>
                </a:solidFill>
                <a:latin typeface="Georgia" pitchFamily="34" charset="0"/>
                <a:ea typeface="Georgia" pitchFamily="34" charset="-122"/>
                <a:cs typeface="Georgia" pitchFamily="34" charset="-120"/>
              </a:rPr>
              <a:t>Pilot</a:t>
            </a:r>
            <a:endParaRPr lang="en-US" sz="1500" dirty="0"/>
          </a:p>
        </p:txBody>
      </p:sp>
      <p:sp>
        <p:nvSpPr>
          <p:cNvPr id="19" name="Text 16"/>
          <p:cNvSpPr txBox="1"/>
          <p:nvPr/>
        </p:nvSpPr>
        <p:spPr>
          <a:xfrm>
            <a:off x="1828800" y="4114800"/>
            <a:ext cx="6766560" cy="548640"/>
          </a:xfrm>
          <a:prstGeom prst="rect">
            <a:avLst/>
          </a:prstGeom>
          <a:noFill/>
          <a:ln/>
        </p:spPr>
        <p:txBody>
          <a:bodyPr wrap="square" lIns="0" tIns="0" rIns="0" bIns="0" rtlCol="0" anchor="ctr"/>
          <a:lstStyle/>
          <a:p>
            <a:pPr indent="0" marL="0">
              <a:buNone/>
            </a:pPr>
            <a:r>
              <a:rPr lang="en-US" sz="1300" dirty="0">
                <a:solidFill>
                  <a:srgbClr val="111111"/>
                </a:solidFill>
                <a:latin typeface="Calibri" pitchFamily="34" charset="0"/>
                <a:ea typeface="Calibri" pitchFamily="34" charset="-122"/>
                <a:cs typeface="Calibri" pitchFamily="34" charset="-120"/>
              </a:rPr>
              <a:t>Tested the pilot design itself: 20 cells for one week passes 26% of the time. Redesigned to 40 cells, 4 live weeks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logo_k.png">    </p:cNvPr>
          <p:cNvPicPr>
            <a:picLocks noChangeAspect="1"/>
          </p:cNvPicPr>
          <p:nvPr/>
        </p:nvPicPr>
        <p:blipFill>
          <a:blip r:embed="rId1"/>
          <a:stretch>
            <a:fillRect/>
          </a:stretch>
        </p:blipFill>
        <p:spPr>
          <a:xfrm>
            <a:off x="7726680" y="365760"/>
            <a:ext cx="208905" cy="246888"/>
          </a:xfrm>
          <a:prstGeom prst="rect">
            <a:avLst/>
          </a:prstGeom>
        </p:spPr>
      </p:pic>
      <p:sp>
        <p:nvSpPr>
          <p:cNvPr id="3" name="Text 0"/>
          <p:cNvSpPr txBox="1"/>
          <p:nvPr/>
        </p:nvSpPr>
        <p:spPr>
          <a:xfrm>
            <a:off x="8017881" y="347472"/>
            <a:ext cx="1152144" cy="283464"/>
          </a:xfrm>
          <a:prstGeom prst="rect">
            <a:avLst/>
          </a:prstGeom>
          <a:noFill/>
          <a:ln/>
        </p:spPr>
        <p:txBody>
          <a:bodyPr wrap="square" lIns="0" tIns="0" rIns="0" bIns="0" rtlCol="0" anchor="ctr"/>
          <a:lstStyle/>
          <a:p>
            <a:pPr indent="0" marL="0">
              <a:buNone/>
            </a:pPr>
            <a:r>
              <a:rPr lang="en-US" sz="1080" b="1" spc="400" kern="0" dirty="0">
                <a:solidFill>
                  <a:srgbClr val="111111"/>
                </a:solidFill>
                <a:latin typeface="Calibri" pitchFamily="34" charset="0"/>
                <a:ea typeface="Calibri" pitchFamily="34" charset="-122"/>
                <a:cs typeface="Calibri" pitchFamily="34" charset="-120"/>
              </a:rPr>
              <a:t>PLUMB</a:t>
            </a:r>
            <a:endParaRPr lang="en-US" sz="1080" dirty="0"/>
          </a:p>
        </p:txBody>
      </p:sp>
      <p:sp>
        <p:nvSpPr>
          <p:cNvPr id="4" name="Text 1"/>
          <p:cNvSpPr txBox="1"/>
          <p:nvPr/>
        </p:nvSpPr>
        <p:spPr>
          <a:xfrm>
            <a:off x="548640" y="365760"/>
            <a:ext cx="5486400" cy="274320"/>
          </a:xfrm>
          <a:prstGeom prst="rect">
            <a:avLst/>
          </a:prstGeom>
          <a:noFill/>
          <a:ln/>
        </p:spPr>
        <p:txBody>
          <a:bodyPr wrap="square" lIns="0" tIns="0" rIns="0" bIns="0" rtlCol="0" anchor="ctr"/>
          <a:lstStyle/>
          <a:p>
            <a:pPr indent="0" marL="0">
              <a:buNone/>
            </a:pPr>
            <a:r>
              <a:rPr lang="en-US" sz="1100" b="1" spc="300" kern="0" dirty="0">
                <a:solidFill>
                  <a:srgbClr val="F26B1D"/>
                </a:solidFill>
                <a:latin typeface="Calibri" pitchFamily="34" charset="0"/>
                <a:ea typeface="Calibri" pitchFamily="34" charset="-122"/>
                <a:cs typeface="Calibri" pitchFamily="34" charset="-120"/>
              </a:rPr>
              <a:t>TEAM</a:t>
            </a:r>
            <a:endParaRPr lang="en-US" sz="1100" dirty="0"/>
          </a:p>
        </p:txBody>
      </p:sp>
      <p:sp>
        <p:nvSpPr>
          <p:cNvPr id="5" name="Text 2"/>
          <p:cNvSpPr txBox="1"/>
          <p:nvPr/>
        </p:nvSpPr>
        <p:spPr>
          <a:xfrm>
            <a:off x="548640" y="658368"/>
            <a:ext cx="8046720" cy="822960"/>
          </a:xfrm>
          <a:prstGeom prst="rect">
            <a:avLst/>
          </a:prstGeom>
          <a:noFill/>
          <a:ln/>
        </p:spPr>
        <p:txBody>
          <a:bodyPr wrap="square" lIns="0" tIns="0" rIns="0" bIns="0" rtlCol="0" anchor="t"/>
          <a:lstStyle/>
          <a:p>
            <a:pPr indent="0" marL="0">
              <a:buNone/>
            </a:pPr>
            <a:r>
              <a:rPr lang="en-US" sz="2600" b="1" dirty="0">
                <a:solidFill>
                  <a:srgbClr val="111111"/>
                </a:solidFill>
                <a:latin typeface="Georgia" pitchFamily="34" charset="0"/>
                <a:ea typeface="Georgia" pitchFamily="34" charset="-122"/>
                <a:cs typeface="Georgia" pitchFamily="34" charset="-120"/>
              </a:rPr>
              <a:t>One builder, product and engineering in one head</a:t>
            </a:r>
            <a:endParaRPr lang="en-US" sz="2600" dirty="0"/>
          </a:p>
        </p:txBody>
      </p:sp>
      <p:sp>
        <p:nvSpPr>
          <p:cNvPr id="6" name="Text 3"/>
          <p:cNvSpPr txBox="1"/>
          <p:nvPr/>
        </p:nvSpPr>
        <p:spPr>
          <a:xfrm>
            <a:off x="548640" y="1645920"/>
            <a:ext cx="7315200" cy="457200"/>
          </a:xfrm>
          <a:prstGeom prst="rect">
            <a:avLst/>
          </a:prstGeom>
          <a:noFill/>
          <a:ln/>
        </p:spPr>
        <p:txBody>
          <a:bodyPr wrap="square" lIns="0" tIns="0" rIns="0" bIns="0" rtlCol="0" anchor="ctr"/>
          <a:lstStyle/>
          <a:p>
            <a:pPr indent="0" marL="0">
              <a:buNone/>
            </a:pPr>
            <a:r>
              <a:rPr lang="en-US" sz="2400" b="1" dirty="0">
                <a:solidFill>
                  <a:srgbClr val="111111"/>
                </a:solidFill>
                <a:latin typeface="Georgia" pitchFamily="34" charset="0"/>
                <a:ea typeface="Georgia" pitchFamily="34" charset="-122"/>
                <a:cs typeface="Georgia" pitchFamily="34" charset="-120"/>
              </a:rPr>
              <a:t>J John Britto</a:t>
            </a:r>
            <a:endParaRPr lang="en-US" sz="2400" dirty="0"/>
          </a:p>
        </p:txBody>
      </p:sp>
      <p:sp>
        <p:nvSpPr>
          <p:cNvPr id="7" name="Text 4"/>
          <p:cNvSpPr txBox="1"/>
          <p:nvPr/>
        </p:nvSpPr>
        <p:spPr>
          <a:xfrm>
            <a:off x="548640" y="2103120"/>
            <a:ext cx="7315200" cy="320040"/>
          </a:xfrm>
          <a:prstGeom prst="rect">
            <a:avLst/>
          </a:prstGeom>
          <a:noFill/>
          <a:ln/>
        </p:spPr>
        <p:txBody>
          <a:bodyPr wrap="square" lIns="0" tIns="0" rIns="0" bIns="0" rtlCol="0" anchor="ctr"/>
          <a:lstStyle/>
          <a:p>
            <a:pPr indent="0" marL="0">
              <a:buNone/>
            </a:pPr>
            <a:r>
              <a:rPr lang="en-US" sz="1500" b="1" dirty="0">
                <a:solidFill>
                  <a:srgbClr val="F26B1D"/>
                </a:solidFill>
                <a:latin typeface="Calibri" pitchFamily="34" charset="0"/>
                <a:ea typeface="Calibri" pitchFamily="34" charset="-122"/>
                <a:cs typeface="Calibri" pitchFamily="34" charset="-120"/>
              </a:rPr>
              <a:t>Head of Product, Bengaluru</a:t>
            </a:r>
            <a:endParaRPr lang="en-US" sz="1500" dirty="0"/>
          </a:p>
        </p:txBody>
      </p:sp>
      <p:sp>
        <p:nvSpPr>
          <p:cNvPr id="8" name="Text 5"/>
          <p:cNvSpPr txBox="1"/>
          <p:nvPr/>
        </p:nvSpPr>
        <p:spPr>
          <a:xfrm>
            <a:off x="548640" y="2651760"/>
            <a:ext cx="8046720" cy="17373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11111"/>
                </a:solidFill>
                <a:latin typeface="Calibri" pitchFamily="34" charset="0"/>
                <a:ea typeface="Calibri" pitchFamily="34" charset="-122"/>
                <a:cs typeface="Calibri" pitchFamily="34" charset="-120"/>
              </a:rPr>
              <a:t>8+ years in AdTech, from UI/UX designer to Head of Product</a:t>
            </a:r>
            <a:endParaRPr lang="en-US" sz="1500" dirty="0"/>
          </a:p>
          <a:p>
            <a:pPr marL="342900" indent="-342900">
              <a:spcAft>
                <a:spcPts val="600"/>
              </a:spcAft>
              <a:buSzPct val="100000"/>
              <a:buChar char="•"/>
            </a:pPr>
            <a:r>
              <a:rPr lang="en-US" sz="1500" dirty="0">
                <a:solidFill>
                  <a:srgbClr val="111111"/>
                </a:solidFill>
                <a:latin typeface="Calibri" pitchFamily="34" charset="0"/>
                <a:ea typeface="Calibri" pitchFamily="34" charset="-122"/>
                <a:cs typeface="Calibri" pitchFamily="34" charset="-120"/>
              </a:rPr>
              <a:t>Built ad servers, header bidding, OpenRTB exchange and reporting pipelines</a:t>
            </a:r>
            <a:endParaRPr lang="en-US" sz="1500" dirty="0"/>
          </a:p>
          <a:p>
            <a:pPr marL="342900" indent="-342900">
              <a:spcAft>
                <a:spcPts val="600"/>
              </a:spcAft>
              <a:buSzPct val="100000"/>
              <a:buChar char="•"/>
            </a:pPr>
            <a:r>
              <a:rPr lang="en-US" sz="1500" dirty="0">
                <a:solidFill>
                  <a:srgbClr val="111111"/>
                </a:solidFill>
                <a:latin typeface="Calibri" pitchFamily="34" charset="0"/>
                <a:ea typeface="Calibri" pitchFamily="34" charset="-122"/>
                <a:cs typeface="Calibri" pitchFamily="34" charset="-120"/>
              </a:rPr>
              <a:t>Leads backend, frontend and data engineers, and the roadmap</a:t>
            </a:r>
            <a:endParaRPr lang="en-US" sz="1500" dirty="0"/>
          </a:p>
          <a:p>
            <a:pPr marL="342900" indent="-342900">
              <a:spcAft>
                <a:spcPts val="600"/>
              </a:spcAft>
              <a:buSzPct val="100000"/>
              <a:buChar char="•"/>
            </a:pPr>
            <a:r>
              <a:rPr lang="en-US" sz="1500" dirty="0">
                <a:solidFill>
                  <a:srgbClr val="111111"/>
                </a:solidFill>
                <a:latin typeface="Calibri" pitchFamily="34" charset="0"/>
                <a:ea typeface="Calibri" pitchFamily="34" charset="-122"/>
                <a:cs typeface="Calibri" pitchFamily="34" charset="-120"/>
              </a:rPr>
              <a:t>PLUMB built solo: problem, statistics, agent design, evaluation, app</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11"/>
        </a:solidFill>
      </p:bgPr>
    </p:bg>
    <p:spTree>
      <p:nvGrpSpPr>
        <p:cNvPr id="1" name=""/>
        <p:cNvGrpSpPr/>
        <p:nvPr/>
      </p:nvGrpSpPr>
      <p:grpSpPr>
        <a:xfrm>
          <a:off x="0" y="0"/>
          <a:ext cx="0" cy="0"/>
          <a:chOff x="0" y="0"/>
          <a:chExt cx="0" cy="0"/>
        </a:xfrm>
      </p:grpSpPr>
      <p:pic>
        <p:nvPicPr>
          <p:cNvPr id="2" name="Image 0" descr="logo_w.png">    </p:cNvPr>
          <p:cNvPicPr>
            <a:picLocks noChangeAspect="1"/>
          </p:cNvPicPr>
          <p:nvPr/>
        </p:nvPicPr>
        <p:blipFill>
          <a:blip r:embed="rId1"/>
          <a:stretch>
            <a:fillRect/>
          </a:stretch>
        </p:blipFill>
        <p:spPr>
          <a:xfrm>
            <a:off x="640080" y="640080"/>
            <a:ext cx="324964" cy="384048"/>
          </a:xfrm>
          <a:prstGeom prst="rect">
            <a:avLst/>
          </a:prstGeom>
        </p:spPr>
      </p:pic>
      <p:sp>
        <p:nvSpPr>
          <p:cNvPr id="3" name="Text 0"/>
          <p:cNvSpPr txBox="1"/>
          <p:nvPr/>
        </p:nvSpPr>
        <p:spPr>
          <a:xfrm>
            <a:off x="1093060" y="621792"/>
            <a:ext cx="1792224" cy="420624"/>
          </a:xfrm>
          <a:prstGeom prst="rect">
            <a:avLst/>
          </a:prstGeom>
          <a:noFill/>
          <a:ln/>
        </p:spPr>
        <p:txBody>
          <a:bodyPr wrap="square" lIns="0" tIns="0" rIns="0" bIns="0" rtlCol="0" anchor="ctr"/>
          <a:lstStyle/>
          <a:p>
            <a:pPr indent="0" marL="0">
              <a:buNone/>
            </a:pPr>
            <a:r>
              <a:rPr lang="en-US" sz="1680" b="1" spc="400" kern="0" dirty="0">
                <a:solidFill>
                  <a:srgbClr val="FFFFFF"/>
                </a:solidFill>
                <a:latin typeface="Calibri" pitchFamily="34" charset="0"/>
                <a:ea typeface="Calibri" pitchFamily="34" charset="-122"/>
                <a:cs typeface="Calibri" pitchFamily="34" charset="-120"/>
              </a:rPr>
              <a:t>PLUMB</a:t>
            </a:r>
            <a:endParaRPr lang="en-US" sz="1680" dirty="0"/>
          </a:p>
        </p:txBody>
      </p:sp>
      <p:sp>
        <p:nvSpPr>
          <p:cNvPr id="4" name="Text 1"/>
          <p:cNvSpPr txBox="1"/>
          <p:nvPr/>
        </p:nvSpPr>
        <p:spPr>
          <a:xfrm>
            <a:off x="640080" y="1371600"/>
            <a:ext cx="7680960" cy="1371600"/>
          </a:xfrm>
          <a:prstGeom prst="rect">
            <a:avLst/>
          </a:prstGeom>
          <a:noFill/>
          <a:ln/>
        </p:spPr>
        <p:txBody>
          <a:bodyPr wrap="square" lIns="0" tIns="0" rIns="0" bIns="0" rtlCol="0" anchor="t"/>
          <a:lstStyle/>
          <a:p>
            <a:pPr indent="0" marL="0">
              <a:buNone/>
            </a:pPr>
            <a:r>
              <a:rPr lang="en-US" sz="3400" b="1" dirty="0">
                <a:solidFill>
                  <a:srgbClr val="FFFFFF"/>
                </a:solidFill>
                <a:latin typeface="Georgia" pitchFamily="34" charset="0"/>
                <a:ea typeface="Georgia" pitchFamily="34" charset="-122"/>
                <a:cs typeface="Georgia" pitchFamily="34" charset="-120"/>
              </a:rPr>
              <a:t>Statistics propose. The agent can refuse. A human decides.</a:t>
            </a:r>
            <a:endParaRPr lang="en-US" sz="3400" dirty="0"/>
          </a:p>
        </p:txBody>
      </p:sp>
      <p:sp>
        <p:nvSpPr>
          <p:cNvPr id="5" name="Shape 2"/>
          <p:cNvSpPr/>
          <p:nvPr/>
        </p:nvSpPr>
        <p:spPr>
          <a:xfrm>
            <a:off x="640080" y="2926080"/>
            <a:ext cx="1097280" cy="54864"/>
          </a:xfrm>
          <a:prstGeom prst="rect">
            <a:avLst/>
          </a:prstGeom>
          <a:solidFill>
            <a:srgbClr val="F26B1D"/>
          </a:solidFill>
          <a:ln w="12700">
            <a:solidFill>
              <a:srgbClr val="F26B1D"/>
            </a:solidFill>
            <a:prstDash val="solid"/>
          </a:ln>
        </p:spPr>
      </p:sp>
      <p:sp>
        <p:nvSpPr>
          <p:cNvPr id="6" name="Text 3"/>
          <p:cNvSpPr txBox="1"/>
          <p:nvPr/>
        </p:nvSpPr>
        <p:spPr>
          <a:xfrm>
            <a:off x="640080" y="3200400"/>
            <a:ext cx="7680960" cy="822960"/>
          </a:xfrm>
          <a:prstGeom prst="rect">
            <a:avLst/>
          </a:prstGeom>
          <a:noFill/>
          <a:ln/>
        </p:spPr>
        <p:txBody>
          <a:bodyPr wrap="square" lIns="0" tIns="0" rIns="0" bIns="0" rtlCol="0" anchor="t"/>
          <a:lstStyle/>
          <a:p>
            <a:pPr indent="0" marL="0">
              <a:buNone/>
            </a:pPr>
            <a:r>
              <a:rPr lang="en-US" sz="1600" dirty="0">
                <a:solidFill>
                  <a:srgbClr val="D9D9D9"/>
                </a:solidFill>
                <a:latin typeface="Calibri" pitchFamily="34" charset="0"/>
                <a:ea typeface="Calibri" pitchFamily="34" charset="-122"/>
                <a:cs typeface="Calibri" pitchFamily="34" charset="-120"/>
              </a:rPr>
              <a:t>Demo: plumb-floor-pricing-demo.vercel.app</a:t>
            </a:r>
            <a:endParaRPr lang="en-US" sz="1600" dirty="0"/>
          </a:p>
          <a:p>
            <a:pPr indent="0" marL="0">
              <a:buNone/>
            </a:pPr>
            <a:r>
              <a:rPr lang="en-US" sz="1600" dirty="0">
                <a:solidFill>
                  <a:srgbClr val="D9D9D9"/>
                </a:solidFill>
                <a:latin typeface="Calibri" pitchFamily="34" charset="0"/>
                <a:ea typeface="Calibri" pitchFamily="34" charset="-122"/>
                <a:cs typeface="Calibri" pitchFamily="34" charset="-120"/>
              </a:rPr>
              <a:t>Code: github.com/Johnbritt/Plumb-Floor-Pricing</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PLUMB Pitch Deck</dc:title>
  <dc:subject>PptxGenJS Presentation</dc:subject>
  <dc:creator>J John Britto</dc:creator>
  <cp:lastModifiedBy>J John Britto</cp:lastModifiedBy>
  <cp:revision>1</cp:revision>
  <dcterms:created xsi:type="dcterms:W3CDTF">2026-10-09T21:28:35Z</dcterms:created>
  <dcterms:modified xsi:type="dcterms:W3CDTF">2026-10-09T21:28:35Z</dcterms:modified>
</cp:coreProperties>
</file>